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60" r:id="rId5"/>
    <p:sldId id="261" r:id="rId6"/>
    <p:sldId id="262" r:id="rId7"/>
    <p:sldId id="263" r:id="rId8"/>
    <p:sldId id="264" r:id="rId9"/>
    <p:sldId id="267" r:id="rId10"/>
    <p:sldId id="268" r:id="rId11"/>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B445"/>
    <a:srgbClr val="2E346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46229" autoAdjust="0"/>
  </p:normalViewPr>
  <p:slideViewPr>
    <p:cSldViewPr snapToGrid="0">
      <p:cViewPr varScale="1">
        <p:scale>
          <a:sx n="34" d="100"/>
          <a:sy n="34" d="100"/>
        </p:scale>
        <p:origin x="1884" y="40"/>
      </p:cViewPr>
      <p:guideLst/>
    </p:cSldViewPr>
  </p:slideViewPr>
  <p:notesTextViewPr>
    <p:cViewPr>
      <p:scale>
        <a:sx n="125" d="100"/>
        <a:sy n="125" d="100"/>
      </p:scale>
      <p:origin x="0" y="-200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59EBA0-3C85-4AF5-B669-A5D3A1CB4046}"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L"/>
        </a:p>
      </dgm:t>
    </dgm:pt>
    <dgm:pt modelId="{A16A2028-48BF-4C99-B2E4-6D881C65D2B5}" type="pres">
      <dgm:prSet presAssocID="{7959EBA0-3C85-4AF5-B669-A5D3A1CB4046}" presName="Name0" presStyleCnt="0">
        <dgm:presLayoutVars>
          <dgm:dir/>
          <dgm:resizeHandles val="exact"/>
        </dgm:presLayoutVars>
      </dgm:prSet>
      <dgm:spPr/>
    </dgm:pt>
  </dgm:ptLst>
  <dgm:cxnLst>
    <dgm:cxn modelId="{5EAE1ED9-70D2-407F-899B-03C92FAA4F08}" type="presOf" srcId="{7959EBA0-3C85-4AF5-B669-A5D3A1CB4046}" destId="{A16A2028-48BF-4C99-B2E4-6D881C65D2B5}" srcOrd="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59EBA0-3C85-4AF5-B669-A5D3A1CB4046}"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L"/>
        </a:p>
      </dgm:t>
    </dgm:pt>
    <dgm:pt modelId="{A16A2028-48BF-4C99-B2E4-6D881C65D2B5}" type="pres">
      <dgm:prSet presAssocID="{7959EBA0-3C85-4AF5-B669-A5D3A1CB4046}" presName="Name0" presStyleCnt="0">
        <dgm:presLayoutVars>
          <dgm:dir/>
          <dgm:resizeHandles val="exact"/>
        </dgm:presLayoutVars>
      </dgm:prSet>
      <dgm:spPr/>
    </dgm:pt>
  </dgm:ptLst>
  <dgm:cxnLst>
    <dgm:cxn modelId="{5EAE1ED9-70D2-407F-899B-03C92FAA4F08}" type="presOf" srcId="{7959EBA0-3C85-4AF5-B669-A5D3A1CB4046}" destId="{A16A2028-48BF-4C99-B2E4-6D881C65D2B5}" srcOrd="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D391E1-6E3B-441F-9B8F-B0D25EF4B035}"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L"/>
        </a:p>
      </dgm:t>
    </dgm:pt>
    <dgm:pt modelId="{A55756E9-1C9E-4088-A603-508ACA4FAD59}">
      <dgm:prSet phldrT="[Text]" phldr="0"/>
      <dgm:spPr>
        <a:solidFill>
          <a:srgbClr val="2E346E"/>
        </a:solidFill>
      </dgm:spPr>
      <dgm:t>
        <a:bodyPr/>
        <a:lstStyle/>
        <a:p>
          <a:r>
            <a:rPr lang="en-US" dirty="0">
              <a:solidFill>
                <a:srgbClr val="E5B445"/>
              </a:solidFill>
            </a:rPr>
            <a:t>Design</a:t>
          </a:r>
          <a:endParaRPr lang="en-IL" dirty="0">
            <a:solidFill>
              <a:srgbClr val="E5B445"/>
            </a:solidFill>
          </a:endParaRPr>
        </a:p>
      </dgm:t>
    </dgm:pt>
    <dgm:pt modelId="{A925AE5B-FB16-442C-85D1-A0FF798DEA79}" type="parTrans" cxnId="{C9529E8C-924F-4907-B831-A16C24862582}">
      <dgm:prSet/>
      <dgm:spPr/>
      <dgm:t>
        <a:bodyPr/>
        <a:lstStyle/>
        <a:p>
          <a:endParaRPr lang="en-IL"/>
        </a:p>
      </dgm:t>
    </dgm:pt>
    <dgm:pt modelId="{3025FDB5-FB3A-4247-A953-E4C422FD7BA6}" type="sibTrans" cxnId="{C9529E8C-924F-4907-B831-A16C24862582}">
      <dgm:prSet/>
      <dgm:spPr>
        <a:solidFill>
          <a:srgbClr val="E5B445"/>
        </a:solidFill>
        <a:ln>
          <a:solidFill>
            <a:srgbClr val="2E346E"/>
          </a:solidFill>
        </a:ln>
      </dgm:spPr>
      <dgm:t>
        <a:bodyPr/>
        <a:lstStyle/>
        <a:p>
          <a:endParaRPr lang="en-IL"/>
        </a:p>
      </dgm:t>
    </dgm:pt>
    <dgm:pt modelId="{8B8E752E-10BF-4236-B20E-2FF390D930B1}">
      <dgm:prSet phldrT="[Text]" phldr="0"/>
      <dgm:spPr>
        <a:solidFill>
          <a:srgbClr val="2E346E"/>
        </a:solidFill>
      </dgm:spPr>
      <dgm:t>
        <a:bodyPr/>
        <a:lstStyle/>
        <a:p>
          <a:r>
            <a:rPr lang="en-US" dirty="0">
              <a:solidFill>
                <a:srgbClr val="E5B445"/>
              </a:solidFill>
            </a:rPr>
            <a:t>Simulation</a:t>
          </a:r>
          <a:endParaRPr lang="en-IL" dirty="0">
            <a:solidFill>
              <a:srgbClr val="E5B445"/>
            </a:solidFill>
          </a:endParaRPr>
        </a:p>
      </dgm:t>
    </dgm:pt>
    <dgm:pt modelId="{1E510D09-589B-4654-9004-FDB13ADD64D2}" type="sibTrans" cxnId="{CA635E3B-3944-45E9-9CAF-C9F18EC1800B}">
      <dgm:prSet/>
      <dgm:spPr>
        <a:solidFill>
          <a:srgbClr val="E5B445"/>
        </a:solidFill>
        <a:ln>
          <a:solidFill>
            <a:srgbClr val="2E346E"/>
          </a:solidFill>
        </a:ln>
      </dgm:spPr>
      <dgm:t>
        <a:bodyPr/>
        <a:lstStyle/>
        <a:p>
          <a:endParaRPr lang="en-IL"/>
        </a:p>
      </dgm:t>
    </dgm:pt>
    <dgm:pt modelId="{7B2E15AB-2B85-4AA4-93F6-16510601B5BE}" type="parTrans" cxnId="{CA635E3B-3944-45E9-9CAF-C9F18EC1800B}">
      <dgm:prSet/>
      <dgm:spPr/>
      <dgm:t>
        <a:bodyPr/>
        <a:lstStyle/>
        <a:p>
          <a:endParaRPr lang="en-IL"/>
        </a:p>
      </dgm:t>
    </dgm:pt>
    <dgm:pt modelId="{0FAE3D6F-10D0-41A5-BF71-68B38699744D}">
      <dgm:prSet phldrT="[Text]" phldr="0"/>
      <dgm:spPr>
        <a:solidFill>
          <a:srgbClr val="2E346E"/>
        </a:solidFill>
      </dgm:spPr>
      <dgm:t>
        <a:bodyPr/>
        <a:lstStyle/>
        <a:p>
          <a:r>
            <a:rPr lang="en-US" dirty="0">
              <a:solidFill>
                <a:srgbClr val="E5B445"/>
              </a:solidFill>
            </a:rPr>
            <a:t>Synthesis</a:t>
          </a:r>
        </a:p>
      </dgm:t>
    </dgm:pt>
    <dgm:pt modelId="{3E12A449-25D3-4270-9141-FCC7C6AB4149}" type="sibTrans" cxnId="{B357EDF4-0ACA-41A3-AA6A-807CE001FB65}">
      <dgm:prSet/>
      <dgm:spPr>
        <a:solidFill>
          <a:srgbClr val="E5B445"/>
        </a:solidFill>
        <a:ln>
          <a:solidFill>
            <a:srgbClr val="2E346E"/>
          </a:solidFill>
        </a:ln>
      </dgm:spPr>
      <dgm:t>
        <a:bodyPr/>
        <a:lstStyle/>
        <a:p>
          <a:endParaRPr lang="en-IL"/>
        </a:p>
      </dgm:t>
    </dgm:pt>
    <dgm:pt modelId="{2163731E-AA86-4C37-9AF2-5C1BF6F98252}" type="parTrans" cxnId="{B357EDF4-0ACA-41A3-AA6A-807CE001FB65}">
      <dgm:prSet/>
      <dgm:spPr/>
      <dgm:t>
        <a:bodyPr/>
        <a:lstStyle/>
        <a:p>
          <a:endParaRPr lang="en-IL"/>
        </a:p>
      </dgm:t>
    </dgm:pt>
    <dgm:pt modelId="{B511260A-5C6E-4BF5-B959-2360B132715A}">
      <dgm:prSet phldrT="[Text]" phldr="0"/>
      <dgm:spPr>
        <a:solidFill>
          <a:srgbClr val="2E346E"/>
        </a:solidFill>
      </dgm:spPr>
      <dgm:t>
        <a:bodyPr/>
        <a:lstStyle/>
        <a:p>
          <a:r>
            <a:rPr lang="en-US" dirty="0">
              <a:solidFill>
                <a:srgbClr val="E5B445"/>
              </a:solidFill>
            </a:rPr>
            <a:t>Implementation</a:t>
          </a:r>
        </a:p>
      </dgm:t>
    </dgm:pt>
    <dgm:pt modelId="{D33FE455-DE57-4BFC-96BE-B2B7046BB341}" type="sibTrans" cxnId="{EAE29E80-EEC8-45C7-B57B-4DD74FE3711F}">
      <dgm:prSet/>
      <dgm:spPr>
        <a:solidFill>
          <a:srgbClr val="E5B445"/>
        </a:solidFill>
        <a:ln>
          <a:solidFill>
            <a:srgbClr val="2E346E"/>
          </a:solidFill>
        </a:ln>
      </dgm:spPr>
      <dgm:t>
        <a:bodyPr/>
        <a:lstStyle/>
        <a:p>
          <a:endParaRPr lang="en-IL" dirty="0"/>
        </a:p>
      </dgm:t>
    </dgm:pt>
    <dgm:pt modelId="{3B9E2283-E583-4ED0-A3F6-22AA05690648}" type="parTrans" cxnId="{EAE29E80-EEC8-45C7-B57B-4DD74FE3711F}">
      <dgm:prSet/>
      <dgm:spPr/>
      <dgm:t>
        <a:bodyPr/>
        <a:lstStyle/>
        <a:p>
          <a:endParaRPr lang="en-IL"/>
        </a:p>
      </dgm:t>
    </dgm:pt>
    <dgm:pt modelId="{B304CEC1-AC4C-4745-94FD-B03C9FF436A9}">
      <dgm:prSet phldrT="[Text]" phldr="0"/>
      <dgm:spPr>
        <a:solidFill>
          <a:srgbClr val="E5B445"/>
        </a:solidFill>
      </dgm:spPr>
      <dgm:t>
        <a:bodyPr/>
        <a:lstStyle/>
        <a:p>
          <a:r>
            <a:rPr lang="en-US" dirty="0">
              <a:solidFill>
                <a:srgbClr val="2E346E"/>
              </a:solidFill>
            </a:rPr>
            <a:t>Bitstream Generation</a:t>
          </a:r>
        </a:p>
      </dgm:t>
    </dgm:pt>
    <dgm:pt modelId="{1C6C44FD-DD36-4200-9675-DF4266D6F899}" type="sibTrans" cxnId="{2F1A585A-3458-4880-920F-77F596F220ED}">
      <dgm:prSet/>
      <dgm:spPr/>
      <dgm:t>
        <a:bodyPr/>
        <a:lstStyle/>
        <a:p>
          <a:endParaRPr lang="en-IL"/>
        </a:p>
      </dgm:t>
    </dgm:pt>
    <dgm:pt modelId="{73379C48-2DEC-4953-88D6-4542B65EBF43}" type="parTrans" cxnId="{2F1A585A-3458-4880-920F-77F596F220ED}">
      <dgm:prSet/>
      <dgm:spPr/>
      <dgm:t>
        <a:bodyPr/>
        <a:lstStyle/>
        <a:p>
          <a:endParaRPr lang="en-IL"/>
        </a:p>
      </dgm:t>
    </dgm:pt>
    <dgm:pt modelId="{6B873F3D-364A-4FC9-8FD6-AEF6237EE471}" type="pres">
      <dgm:prSet presAssocID="{96D391E1-6E3B-441F-9B8F-B0D25EF4B035}" presName="Name0" presStyleCnt="0">
        <dgm:presLayoutVars>
          <dgm:dir/>
          <dgm:resizeHandles val="exact"/>
        </dgm:presLayoutVars>
      </dgm:prSet>
      <dgm:spPr/>
    </dgm:pt>
    <dgm:pt modelId="{6B431797-6AF8-4D90-9CB0-B836B5FBF9A8}" type="pres">
      <dgm:prSet presAssocID="{A55756E9-1C9E-4088-A603-508ACA4FAD59}" presName="node" presStyleLbl="node1" presStyleIdx="0" presStyleCnt="5" custLinFactX="397226" custLinFactY="-100000" custLinFactNeighborX="400000" custLinFactNeighborY="-181828">
        <dgm:presLayoutVars>
          <dgm:bulletEnabled val="1"/>
        </dgm:presLayoutVars>
      </dgm:prSet>
      <dgm:spPr/>
    </dgm:pt>
    <dgm:pt modelId="{AAF0760E-D4B6-42AE-8028-A89C8DF7E046}" type="pres">
      <dgm:prSet presAssocID="{3025FDB5-FB3A-4247-A953-E4C422FD7BA6}" presName="sibTrans" presStyleLbl="sibTrans2D1" presStyleIdx="0" presStyleCnt="4"/>
      <dgm:spPr/>
    </dgm:pt>
    <dgm:pt modelId="{2C6D4D78-B7AA-43A4-B070-571CFB54CFDF}" type="pres">
      <dgm:prSet presAssocID="{3025FDB5-FB3A-4247-A953-E4C422FD7BA6}" presName="connectorText" presStyleLbl="sibTrans2D1" presStyleIdx="0" presStyleCnt="4"/>
      <dgm:spPr/>
    </dgm:pt>
    <dgm:pt modelId="{D6954B04-C759-4ACD-B222-31BE06799082}" type="pres">
      <dgm:prSet presAssocID="{8B8E752E-10BF-4236-B20E-2FF390D930B1}" presName="node" presStyleLbl="node1" presStyleIdx="1" presStyleCnt="5" custLinFactX="297742" custLinFactY="-40214" custLinFactNeighborX="300000" custLinFactNeighborY="-100000">
        <dgm:presLayoutVars>
          <dgm:bulletEnabled val="1"/>
        </dgm:presLayoutVars>
      </dgm:prSet>
      <dgm:spPr/>
    </dgm:pt>
    <dgm:pt modelId="{8996994F-5513-4EF3-B5D9-6265CFE60ED2}" type="pres">
      <dgm:prSet presAssocID="{1E510D09-589B-4654-9004-FDB13ADD64D2}" presName="sibTrans" presStyleLbl="sibTrans2D1" presStyleIdx="1" presStyleCnt="4"/>
      <dgm:spPr/>
    </dgm:pt>
    <dgm:pt modelId="{0153B479-6165-4A9E-8887-1F3051480BD1}" type="pres">
      <dgm:prSet presAssocID="{1E510D09-589B-4654-9004-FDB13ADD64D2}" presName="connectorText" presStyleLbl="sibTrans2D1" presStyleIdx="1" presStyleCnt="4"/>
      <dgm:spPr/>
    </dgm:pt>
    <dgm:pt modelId="{CE2763F5-899D-40BC-8912-462170EE7CBE}" type="pres">
      <dgm:prSet presAssocID="{0FAE3D6F-10D0-41A5-BF71-68B38699744D}" presName="node" presStyleLbl="node1" presStyleIdx="2" presStyleCnt="5" custLinFactX="199226" custLinFactNeighborX="200000" custLinFactNeighborY="-3441">
        <dgm:presLayoutVars>
          <dgm:bulletEnabled val="1"/>
        </dgm:presLayoutVars>
      </dgm:prSet>
      <dgm:spPr/>
    </dgm:pt>
    <dgm:pt modelId="{ECC45380-A844-46F2-8DED-2887361527E1}" type="pres">
      <dgm:prSet presAssocID="{3E12A449-25D3-4270-9141-FCC7C6AB4149}" presName="sibTrans" presStyleLbl="sibTrans2D1" presStyleIdx="2" presStyleCnt="4"/>
      <dgm:spPr/>
    </dgm:pt>
    <dgm:pt modelId="{955A90DF-7521-432C-850B-6D2D26ABAFFF}" type="pres">
      <dgm:prSet presAssocID="{3E12A449-25D3-4270-9141-FCC7C6AB4149}" presName="connectorText" presStyleLbl="sibTrans2D1" presStyleIdx="2" presStyleCnt="4"/>
      <dgm:spPr/>
    </dgm:pt>
    <dgm:pt modelId="{0AA1CF22-FDAE-4155-A85E-B9C45E47EBEB}" type="pres">
      <dgm:prSet presAssocID="{B511260A-5C6E-4BF5-B959-2360B132715A}" presName="node" presStyleLbl="node1" presStyleIdx="3" presStyleCnt="5" custLinFactX="100000" custLinFactY="46237" custLinFactNeighborX="100968" custLinFactNeighborY="100000">
        <dgm:presLayoutVars>
          <dgm:bulletEnabled val="1"/>
        </dgm:presLayoutVars>
      </dgm:prSet>
      <dgm:spPr/>
    </dgm:pt>
    <dgm:pt modelId="{D38D325C-79A2-4F6B-88A7-EA5A497952FD}" type="pres">
      <dgm:prSet presAssocID="{D33FE455-DE57-4BFC-96BE-B2B7046BB341}" presName="sibTrans" presStyleLbl="sibTrans2D1" presStyleIdx="3" presStyleCnt="4"/>
      <dgm:spPr/>
    </dgm:pt>
    <dgm:pt modelId="{EF09D91D-C22F-48DF-8605-320620FEF8DF}" type="pres">
      <dgm:prSet presAssocID="{D33FE455-DE57-4BFC-96BE-B2B7046BB341}" presName="connectorText" presStyleLbl="sibTrans2D1" presStyleIdx="3" presStyleCnt="4"/>
      <dgm:spPr/>
    </dgm:pt>
    <dgm:pt modelId="{293A8D64-94B9-4E16-B291-8451897822A1}" type="pres">
      <dgm:prSet presAssocID="{B304CEC1-AC4C-4745-94FD-B03C9FF436A9}" presName="node" presStyleLbl="node1" presStyleIdx="4" presStyleCnt="5" custLinFactY="100000" custLinFactNeighborX="-1290" custLinFactNeighborY="189498">
        <dgm:presLayoutVars>
          <dgm:bulletEnabled val="1"/>
        </dgm:presLayoutVars>
      </dgm:prSet>
      <dgm:spPr/>
    </dgm:pt>
  </dgm:ptLst>
  <dgm:cxnLst>
    <dgm:cxn modelId="{334EB908-D0F4-4EAF-9F0C-327AB92B2B50}" type="presOf" srcId="{96D391E1-6E3B-441F-9B8F-B0D25EF4B035}" destId="{6B873F3D-364A-4FC9-8FD6-AEF6237EE471}" srcOrd="0" destOrd="0" presId="urn:microsoft.com/office/officeart/2005/8/layout/process1"/>
    <dgm:cxn modelId="{756AD223-4939-4102-B81E-E0D592012DCD}" type="presOf" srcId="{3E12A449-25D3-4270-9141-FCC7C6AB4149}" destId="{ECC45380-A844-46F2-8DED-2887361527E1}" srcOrd="0" destOrd="0" presId="urn:microsoft.com/office/officeart/2005/8/layout/process1"/>
    <dgm:cxn modelId="{CA635E3B-3944-45E9-9CAF-C9F18EC1800B}" srcId="{96D391E1-6E3B-441F-9B8F-B0D25EF4B035}" destId="{8B8E752E-10BF-4236-B20E-2FF390D930B1}" srcOrd="1" destOrd="0" parTransId="{7B2E15AB-2B85-4AA4-93F6-16510601B5BE}" sibTransId="{1E510D09-589B-4654-9004-FDB13ADD64D2}"/>
    <dgm:cxn modelId="{378BE85F-A78D-4283-97C9-9C1312B4C761}" type="presOf" srcId="{A55756E9-1C9E-4088-A603-508ACA4FAD59}" destId="{6B431797-6AF8-4D90-9CB0-B836B5FBF9A8}" srcOrd="0" destOrd="0" presId="urn:microsoft.com/office/officeart/2005/8/layout/process1"/>
    <dgm:cxn modelId="{93DEB443-1707-4A29-8594-FB34FAEDA023}" type="presOf" srcId="{B511260A-5C6E-4BF5-B959-2360B132715A}" destId="{0AA1CF22-FDAE-4155-A85E-B9C45E47EBEB}" srcOrd="0" destOrd="0" presId="urn:microsoft.com/office/officeart/2005/8/layout/process1"/>
    <dgm:cxn modelId="{589BB247-74F1-4842-89E2-DCE28B8B84CD}" type="presOf" srcId="{8B8E752E-10BF-4236-B20E-2FF390D930B1}" destId="{D6954B04-C759-4ACD-B222-31BE06799082}" srcOrd="0" destOrd="0" presId="urn:microsoft.com/office/officeart/2005/8/layout/process1"/>
    <dgm:cxn modelId="{3B275A51-7AC2-42F6-B788-7854B689220A}" type="presOf" srcId="{0FAE3D6F-10D0-41A5-BF71-68B38699744D}" destId="{CE2763F5-899D-40BC-8912-462170EE7CBE}" srcOrd="0" destOrd="0" presId="urn:microsoft.com/office/officeart/2005/8/layout/process1"/>
    <dgm:cxn modelId="{95A38252-E9C6-4D8F-9182-4EA49CDBCBBC}" type="presOf" srcId="{D33FE455-DE57-4BFC-96BE-B2B7046BB341}" destId="{D38D325C-79A2-4F6B-88A7-EA5A497952FD}" srcOrd="0" destOrd="0" presId="urn:microsoft.com/office/officeart/2005/8/layout/process1"/>
    <dgm:cxn modelId="{1ADBE352-7E39-4077-B05F-831FB20F4161}" type="presOf" srcId="{B304CEC1-AC4C-4745-94FD-B03C9FF436A9}" destId="{293A8D64-94B9-4E16-B291-8451897822A1}" srcOrd="0" destOrd="0" presId="urn:microsoft.com/office/officeart/2005/8/layout/process1"/>
    <dgm:cxn modelId="{43802F76-1B0B-4B13-9DA4-3FD9E8372210}" type="presOf" srcId="{3E12A449-25D3-4270-9141-FCC7C6AB4149}" destId="{955A90DF-7521-432C-850B-6D2D26ABAFFF}" srcOrd="1" destOrd="0" presId="urn:microsoft.com/office/officeart/2005/8/layout/process1"/>
    <dgm:cxn modelId="{2F1A585A-3458-4880-920F-77F596F220ED}" srcId="{96D391E1-6E3B-441F-9B8F-B0D25EF4B035}" destId="{B304CEC1-AC4C-4745-94FD-B03C9FF436A9}" srcOrd="4" destOrd="0" parTransId="{73379C48-2DEC-4953-88D6-4542B65EBF43}" sibTransId="{1C6C44FD-DD36-4200-9675-DF4266D6F899}"/>
    <dgm:cxn modelId="{EAE29E80-EEC8-45C7-B57B-4DD74FE3711F}" srcId="{96D391E1-6E3B-441F-9B8F-B0D25EF4B035}" destId="{B511260A-5C6E-4BF5-B959-2360B132715A}" srcOrd="3" destOrd="0" parTransId="{3B9E2283-E583-4ED0-A3F6-22AA05690648}" sibTransId="{D33FE455-DE57-4BFC-96BE-B2B7046BB341}"/>
    <dgm:cxn modelId="{C9529E8C-924F-4907-B831-A16C24862582}" srcId="{96D391E1-6E3B-441F-9B8F-B0D25EF4B035}" destId="{A55756E9-1C9E-4088-A603-508ACA4FAD59}" srcOrd="0" destOrd="0" parTransId="{A925AE5B-FB16-442C-85D1-A0FF798DEA79}" sibTransId="{3025FDB5-FB3A-4247-A953-E4C422FD7BA6}"/>
    <dgm:cxn modelId="{FFF65497-38CA-4179-8599-F20FA52C9503}" type="presOf" srcId="{1E510D09-589B-4654-9004-FDB13ADD64D2}" destId="{8996994F-5513-4EF3-B5D9-6265CFE60ED2}" srcOrd="0" destOrd="0" presId="urn:microsoft.com/office/officeart/2005/8/layout/process1"/>
    <dgm:cxn modelId="{2886B4BE-F071-42BA-947C-9E98EF3F7035}" type="presOf" srcId="{D33FE455-DE57-4BFC-96BE-B2B7046BB341}" destId="{EF09D91D-C22F-48DF-8605-320620FEF8DF}" srcOrd="1" destOrd="0" presId="urn:microsoft.com/office/officeart/2005/8/layout/process1"/>
    <dgm:cxn modelId="{56B375C5-94D4-4F8E-83CC-EE550561EB32}" type="presOf" srcId="{3025FDB5-FB3A-4247-A953-E4C422FD7BA6}" destId="{AAF0760E-D4B6-42AE-8028-A89C8DF7E046}" srcOrd="0" destOrd="0" presId="urn:microsoft.com/office/officeart/2005/8/layout/process1"/>
    <dgm:cxn modelId="{1093EFD8-83EB-4273-B58E-FDD58ADF783D}" type="presOf" srcId="{3025FDB5-FB3A-4247-A953-E4C422FD7BA6}" destId="{2C6D4D78-B7AA-43A4-B070-571CFB54CFDF}" srcOrd="1" destOrd="0" presId="urn:microsoft.com/office/officeart/2005/8/layout/process1"/>
    <dgm:cxn modelId="{DB9A11E0-49DC-42FA-B04D-0C236A5B22AC}" type="presOf" srcId="{1E510D09-589B-4654-9004-FDB13ADD64D2}" destId="{0153B479-6165-4A9E-8887-1F3051480BD1}" srcOrd="1" destOrd="0" presId="urn:microsoft.com/office/officeart/2005/8/layout/process1"/>
    <dgm:cxn modelId="{B357EDF4-0ACA-41A3-AA6A-807CE001FB65}" srcId="{96D391E1-6E3B-441F-9B8F-B0D25EF4B035}" destId="{0FAE3D6F-10D0-41A5-BF71-68B38699744D}" srcOrd="2" destOrd="0" parTransId="{2163731E-AA86-4C37-9AF2-5C1BF6F98252}" sibTransId="{3E12A449-25D3-4270-9141-FCC7C6AB4149}"/>
    <dgm:cxn modelId="{4376B748-FFAE-4028-815E-389C683583AF}" type="presParOf" srcId="{6B873F3D-364A-4FC9-8FD6-AEF6237EE471}" destId="{6B431797-6AF8-4D90-9CB0-B836B5FBF9A8}" srcOrd="0" destOrd="0" presId="urn:microsoft.com/office/officeart/2005/8/layout/process1"/>
    <dgm:cxn modelId="{3BD723B2-36BA-4B8D-9EC6-7DA7C1525F04}" type="presParOf" srcId="{6B873F3D-364A-4FC9-8FD6-AEF6237EE471}" destId="{AAF0760E-D4B6-42AE-8028-A89C8DF7E046}" srcOrd="1" destOrd="0" presId="urn:microsoft.com/office/officeart/2005/8/layout/process1"/>
    <dgm:cxn modelId="{74BBB3E0-5301-4165-8129-EB09F9DF4DCD}" type="presParOf" srcId="{AAF0760E-D4B6-42AE-8028-A89C8DF7E046}" destId="{2C6D4D78-B7AA-43A4-B070-571CFB54CFDF}" srcOrd="0" destOrd="0" presId="urn:microsoft.com/office/officeart/2005/8/layout/process1"/>
    <dgm:cxn modelId="{5D0A8A77-0937-4B9D-8241-FFC0F3142DAD}" type="presParOf" srcId="{6B873F3D-364A-4FC9-8FD6-AEF6237EE471}" destId="{D6954B04-C759-4ACD-B222-31BE06799082}" srcOrd="2" destOrd="0" presId="urn:microsoft.com/office/officeart/2005/8/layout/process1"/>
    <dgm:cxn modelId="{36EC19FC-183A-42D1-A7C3-D0673F19AD13}" type="presParOf" srcId="{6B873F3D-364A-4FC9-8FD6-AEF6237EE471}" destId="{8996994F-5513-4EF3-B5D9-6265CFE60ED2}" srcOrd="3" destOrd="0" presId="urn:microsoft.com/office/officeart/2005/8/layout/process1"/>
    <dgm:cxn modelId="{19A41FA5-DE84-4FFA-8990-D9E4F2133C2B}" type="presParOf" srcId="{8996994F-5513-4EF3-B5D9-6265CFE60ED2}" destId="{0153B479-6165-4A9E-8887-1F3051480BD1}" srcOrd="0" destOrd="0" presId="urn:microsoft.com/office/officeart/2005/8/layout/process1"/>
    <dgm:cxn modelId="{332D30A7-83DD-40F5-824C-1358EF89E7CC}" type="presParOf" srcId="{6B873F3D-364A-4FC9-8FD6-AEF6237EE471}" destId="{CE2763F5-899D-40BC-8912-462170EE7CBE}" srcOrd="4" destOrd="0" presId="urn:microsoft.com/office/officeart/2005/8/layout/process1"/>
    <dgm:cxn modelId="{8CAAC67F-D4D7-479E-89D4-3271670B215C}" type="presParOf" srcId="{6B873F3D-364A-4FC9-8FD6-AEF6237EE471}" destId="{ECC45380-A844-46F2-8DED-2887361527E1}" srcOrd="5" destOrd="0" presId="urn:microsoft.com/office/officeart/2005/8/layout/process1"/>
    <dgm:cxn modelId="{3CAA0F92-5C46-4C5C-9EFB-C585451BBA69}" type="presParOf" srcId="{ECC45380-A844-46F2-8DED-2887361527E1}" destId="{955A90DF-7521-432C-850B-6D2D26ABAFFF}" srcOrd="0" destOrd="0" presId="urn:microsoft.com/office/officeart/2005/8/layout/process1"/>
    <dgm:cxn modelId="{A17E8848-516C-4C4B-A035-B2FB43810912}" type="presParOf" srcId="{6B873F3D-364A-4FC9-8FD6-AEF6237EE471}" destId="{0AA1CF22-FDAE-4155-A85E-B9C45E47EBEB}" srcOrd="6" destOrd="0" presId="urn:microsoft.com/office/officeart/2005/8/layout/process1"/>
    <dgm:cxn modelId="{13755774-281D-43EC-85E7-139EC1887332}" type="presParOf" srcId="{6B873F3D-364A-4FC9-8FD6-AEF6237EE471}" destId="{D38D325C-79A2-4F6B-88A7-EA5A497952FD}" srcOrd="7" destOrd="0" presId="urn:microsoft.com/office/officeart/2005/8/layout/process1"/>
    <dgm:cxn modelId="{0F0B5944-1E26-437A-AFF7-BF3BAB3AEEBC}" type="presParOf" srcId="{D38D325C-79A2-4F6B-88A7-EA5A497952FD}" destId="{EF09D91D-C22F-48DF-8605-320620FEF8DF}" srcOrd="0" destOrd="0" presId="urn:microsoft.com/office/officeart/2005/8/layout/process1"/>
    <dgm:cxn modelId="{6EAA9647-BD2D-4BF5-AEC8-390D0E075448}" type="presParOf" srcId="{6B873F3D-364A-4FC9-8FD6-AEF6237EE471}" destId="{293A8D64-94B9-4E16-B291-8451897822A1}"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31797-6AF8-4D90-9CB0-B836B5FBF9A8}">
      <dsp:nvSpPr>
        <dsp:cNvPr id="0" name=""/>
        <dsp:cNvSpPr/>
      </dsp:nvSpPr>
      <dsp:spPr>
        <a:xfrm>
          <a:off x="6859589" y="259820"/>
          <a:ext cx="1230312" cy="738187"/>
        </a:xfrm>
        <a:prstGeom prst="roundRect">
          <a:avLst>
            <a:gd name="adj" fmla="val 10000"/>
          </a:avLst>
        </a:prstGeom>
        <a:solidFill>
          <a:srgbClr val="2E346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rgbClr val="E5B445"/>
              </a:solidFill>
            </a:rPr>
            <a:t>Design</a:t>
          </a:r>
          <a:endParaRPr lang="en-IL" sz="1300" kern="1200" dirty="0">
            <a:solidFill>
              <a:srgbClr val="E5B445"/>
            </a:solidFill>
          </a:endParaRPr>
        </a:p>
      </dsp:txBody>
      <dsp:txXfrm>
        <a:off x="6881210" y="281441"/>
        <a:ext cx="1187070" cy="694945"/>
      </dsp:txXfrm>
    </dsp:sp>
    <dsp:sp modelId="{AAF0760E-D4B6-42AE-8028-A89C8DF7E046}">
      <dsp:nvSpPr>
        <dsp:cNvPr id="0" name=""/>
        <dsp:cNvSpPr/>
      </dsp:nvSpPr>
      <dsp:spPr>
        <a:xfrm rot="5379123">
          <a:off x="7396541" y="1003651"/>
          <a:ext cx="162813" cy="305117"/>
        </a:xfrm>
        <a:prstGeom prst="rightArrow">
          <a:avLst>
            <a:gd name="adj1" fmla="val 60000"/>
            <a:gd name="adj2" fmla="val 50000"/>
          </a:avLst>
        </a:prstGeom>
        <a:solidFill>
          <a:srgbClr val="E5B445"/>
        </a:solidFill>
        <a:ln>
          <a:solidFill>
            <a:srgbClr val="2E346E"/>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L" sz="1100" kern="1200"/>
        </a:p>
      </dsp:txBody>
      <dsp:txXfrm>
        <a:off x="7420815" y="1040252"/>
        <a:ext cx="113969" cy="183071"/>
      </dsp:txXfrm>
    </dsp:sp>
    <dsp:sp modelId="{D6954B04-C759-4ACD-B222-31BE06799082}">
      <dsp:nvSpPr>
        <dsp:cNvPr id="0" name=""/>
        <dsp:cNvSpPr/>
      </dsp:nvSpPr>
      <dsp:spPr>
        <a:xfrm>
          <a:off x="6865938" y="1305197"/>
          <a:ext cx="1230312" cy="738187"/>
        </a:xfrm>
        <a:prstGeom prst="roundRect">
          <a:avLst>
            <a:gd name="adj" fmla="val 10000"/>
          </a:avLst>
        </a:prstGeom>
        <a:solidFill>
          <a:srgbClr val="2E346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rgbClr val="E5B445"/>
              </a:solidFill>
            </a:rPr>
            <a:t>Simulation</a:t>
          </a:r>
          <a:endParaRPr lang="en-IL" sz="1300" kern="1200" dirty="0">
            <a:solidFill>
              <a:srgbClr val="E5B445"/>
            </a:solidFill>
          </a:endParaRPr>
        </a:p>
      </dsp:txBody>
      <dsp:txXfrm>
        <a:off x="6887559" y="1326818"/>
        <a:ext cx="1187070" cy="694945"/>
      </dsp:txXfrm>
    </dsp:sp>
    <dsp:sp modelId="{8996994F-5513-4EF3-B5D9-6265CFE60ED2}">
      <dsp:nvSpPr>
        <dsp:cNvPr id="0" name=""/>
        <dsp:cNvSpPr/>
      </dsp:nvSpPr>
      <dsp:spPr>
        <a:xfrm rot="5337840">
          <a:off x="7418350" y="2030624"/>
          <a:ext cx="143893" cy="305117"/>
        </a:xfrm>
        <a:prstGeom prst="rightArrow">
          <a:avLst>
            <a:gd name="adj1" fmla="val 60000"/>
            <a:gd name="adj2" fmla="val 50000"/>
          </a:avLst>
        </a:prstGeom>
        <a:solidFill>
          <a:srgbClr val="E5B445"/>
        </a:solidFill>
        <a:ln>
          <a:solidFill>
            <a:srgbClr val="2E346E"/>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L" sz="1100" kern="1200"/>
        </a:p>
      </dsp:txBody>
      <dsp:txXfrm>
        <a:off x="7439544" y="2070067"/>
        <a:ext cx="100725" cy="183071"/>
      </dsp:txXfrm>
    </dsp:sp>
    <dsp:sp modelId="{CE2763F5-899D-40BC-8912-462170EE7CBE}">
      <dsp:nvSpPr>
        <dsp:cNvPr id="0" name=""/>
        <dsp:cNvSpPr/>
      </dsp:nvSpPr>
      <dsp:spPr>
        <a:xfrm>
          <a:off x="6884196" y="2314838"/>
          <a:ext cx="1230312" cy="738187"/>
        </a:xfrm>
        <a:prstGeom prst="roundRect">
          <a:avLst>
            <a:gd name="adj" fmla="val 10000"/>
          </a:avLst>
        </a:prstGeom>
        <a:solidFill>
          <a:srgbClr val="2E346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rgbClr val="E5B445"/>
              </a:solidFill>
            </a:rPr>
            <a:t>Synthesis</a:t>
          </a:r>
        </a:p>
      </dsp:txBody>
      <dsp:txXfrm>
        <a:off x="6905817" y="2336459"/>
        <a:ext cx="1187070" cy="694945"/>
      </dsp:txXfrm>
    </dsp:sp>
    <dsp:sp modelId="{ECC45380-A844-46F2-8DED-2887361527E1}">
      <dsp:nvSpPr>
        <dsp:cNvPr id="0" name=""/>
        <dsp:cNvSpPr/>
      </dsp:nvSpPr>
      <dsp:spPr>
        <a:xfrm rot="5358026">
          <a:off x="7408978" y="3089326"/>
          <a:ext cx="194374" cy="305117"/>
        </a:xfrm>
        <a:prstGeom prst="rightArrow">
          <a:avLst>
            <a:gd name="adj1" fmla="val 60000"/>
            <a:gd name="adj2" fmla="val 50000"/>
          </a:avLst>
        </a:prstGeom>
        <a:solidFill>
          <a:srgbClr val="E5B445"/>
        </a:solidFill>
        <a:ln>
          <a:solidFill>
            <a:srgbClr val="2E346E"/>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L" sz="1100" kern="1200"/>
        </a:p>
      </dsp:txBody>
      <dsp:txXfrm>
        <a:off x="7437778" y="3121195"/>
        <a:ext cx="136062" cy="183071"/>
      </dsp:txXfrm>
    </dsp:sp>
    <dsp:sp modelId="{0AA1CF22-FDAE-4155-A85E-B9C45E47EBEB}">
      <dsp:nvSpPr>
        <dsp:cNvPr id="0" name=""/>
        <dsp:cNvSpPr/>
      </dsp:nvSpPr>
      <dsp:spPr>
        <a:xfrm>
          <a:off x="6897687" y="3419743"/>
          <a:ext cx="1230312" cy="738187"/>
        </a:xfrm>
        <a:prstGeom prst="roundRect">
          <a:avLst>
            <a:gd name="adj" fmla="val 10000"/>
          </a:avLst>
        </a:prstGeom>
        <a:solidFill>
          <a:srgbClr val="2E346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rgbClr val="E5B445"/>
              </a:solidFill>
            </a:rPr>
            <a:t>Implementation</a:t>
          </a:r>
        </a:p>
      </dsp:txBody>
      <dsp:txXfrm>
        <a:off x="6919308" y="3441364"/>
        <a:ext cx="1187070" cy="694945"/>
      </dsp:txXfrm>
    </dsp:sp>
    <dsp:sp modelId="{D38D325C-79A2-4F6B-88A7-EA5A497952FD}">
      <dsp:nvSpPr>
        <dsp:cNvPr id="0" name=""/>
        <dsp:cNvSpPr/>
      </dsp:nvSpPr>
      <dsp:spPr>
        <a:xfrm rot="5433537">
          <a:off x="7423007" y="4169835"/>
          <a:ext cx="169262" cy="305117"/>
        </a:xfrm>
        <a:prstGeom prst="rightArrow">
          <a:avLst>
            <a:gd name="adj1" fmla="val 60000"/>
            <a:gd name="adj2" fmla="val 50000"/>
          </a:avLst>
        </a:prstGeom>
        <a:solidFill>
          <a:srgbClr val="E5B445"/>
        </a:solidFill>
        <a:ln>
          <a:solidFill>
            <a:srgbClr val="2E346E"/>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L" sz="1100" kern="1200" dirty="0"/>
        </a:p>
      </dsp:txBody>
      <dsp:txXfrm rot="10800000">
        <a:off x="7448644" y="4205470"/>
        <a:ext cx="118483" cy="183071"/>
      </dsp:txXfrm>
    </dsp:sp>
    <dsp:sp modelId="{293A8D64-94B9-4E16-B291-8451897822A1}">
      <dsp:nvSpPr>
        <dsp:cNvPr id="0" name=""/>
        <dsp:cNvSpPr/>
      </dsp:nvSpPr>
      <dsp:spPr>
        <a:xfrm>
          <a:off x="6887370" y="4477277"/>
          <a:ext cx="1230312" cy="738187"/>
        </a:xfrm>
        <a:prstGeom prst="roundRect">
          <a:avLst>
            <a:gd name="adj" fmla="val 10000"/>
          </a:avLst>
        </a:prstGeom>
        <a:solidFill>
          <a:srgbClr val="E5B44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rgbClr val="2E346E"/>
              </a:solidFill>
            </a:rPr>
            <a:t>Bitstream Generation</a:t>
          </a:r>
        </a:p>
      </dsp:txBody>
      <dsp:txXfrm>
        <a:off x="6908991" y="4498898"/>
        <a:ext cx="1187070" cy="69494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2C70DD-90A6-4955-9B60-FD995455202A}" type="datetimeFigureOut">
              <a:rPr lang="en-IL" smtClean="0"/>
              <a:t>11/10/2025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8BFC90-B73C-4B46-9F31-D0E93EFA2C71}" type="slidenum">
              <a:rPr lang="en-IL" smtClean="0"/>
              <a:t>‹#›</a:t>
            </a:fld>
            <a:endParaRPr lang="en-IL"/>
          </a:p>
        </p:txBody>
      </p:sp>
    </p:spTree>
    <p:extLst>
      <p:ext uri="{BB962C8B-B14F-4D97-AF65-F5344CB8AC3E}">
        <p14:creationId xmlns:p14="http://schemas.microsoft.com/office/powerpoint/2010/main" val="3388354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E8BFC90-B73C-4B46-9F31-D0E93EFA2C71}" type="slidenum">
              <a:rPr lang="en-IL" smtClean="0"/>
              <a:t>1</a:t>
            </a:fld>
            <a:endParaRPr lang="en-IL"/>
          </a:p>
        </p:txBody>
      </p:sp>
    </p:spTree>
    <p:extLst>
      <p:ext uri="{BB962C8B-B14F-4D97-AF65-F5344CB8AC3E}">
        <p14:creationId xmlns:p14="http://schemas.microsoft.com/office/powerpoint/2010/main" val="3989228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r>
              <a:rPr lang="en-US" dirty="0"/>
              <a:t>The project goal was to research and explore the open-source RISC-V architecture and to design and implement it as a soft-core on an FPGA using different methods in order to determine which one has the best performance and is the most reliable.</a:t>
            </a:r>
          </a:p>
          <a:p>
            <a:endParaRPr lang="en-US" dirty="0"/>
          </a:p>
          <a:p>
            <a:r>
              <a:rPr lang="en-US" dirty="0"/>
              <a:t>This project includes a soft-core RV32IM on Artix-7 FPGA.</a:t>
            </a:r>
          </a:p>
          <a:p>
            <a:r>
              <a:rPr lang="en-US" dirty="0"/>
              <a:t>As well as 6 different assembly programs that run on the softcore.</a:t>
            </a:r>
          </a:p>
          <a:p>
            <a:endParaRPr lang="en-IL" dirty="0"/>
          </a:p>
        </p:txBody>
      </p:sp>
      <p:sp>
        <p:nvSpPr>
          <p:cNvPr id="4" name="Slide Number Placeholder 3"/>
          <p:cNvSpPr>
            <a:spLocks noGrp="1"/>
          </p:cNvSpPr>
          <p:nvPr>
            <p:ph type="sldNum" sz="quarter" idx="5"/>
          </p:nvPr>
        </p:nvSpPr>
        <p:spPr/>
        <p:txBody>
          <a:bodyPr/>
          <a:lstStyle/>
          <a:p>
            <a:fld id="{1E8BFC90-B73C-4B46-9F31-D0E93EFA2C71}" type="slidenum">
              <a:rPr lang="en-IL" smtClean="0"/>
              <a:t>2</a:t>
            </a:fld>
            <a:endParaRPr lang="en-IL"/>
          </a:p>
        </p:txBody>
      </p:sp>
    </p:spTree>
    <p:extLst>
      <p:ext uri="{BB962C8B-B14F-4D97-AF65-F5344CB8AC3E}">
        <p14:creationId xmlns:p14="http://schemas.microsoft.com/office/powerpoint/2010/main" val="843411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marL="0" indent="0" algn="l" rtl="0">
              <a:buNone/>
            </a:pPr>
            <a:r>
              <a:rPr lang="en-US" dirty="0"/>
              <a:t>RISC-V Instruction Set Architecture is a modern, open-source and modular architecture. It was created in the parallel lab in Barkly university and was created in order to provide free and scalable ISA that support wide range of fields.</a:t>
            </a:r>
          </a:p>
          <a:p>
            <a:pPr marL="0" indent="0" algn="l" rtl="0">
              <a:buNone/>
            </a:pPr>
            <a:endParaRPr lang="en-US" dirty="0"/>
          </a:p>
          <a:p>
            <a:pPr marL="0" indent="0" algn="l" rtl="0">
              <a:buNone/>
            </a:pPr>
            <a:r>
              <a:rPr lang="en-US" dirty="0"/>
              <a:t>RISC-V ISA  operate according to RISC philosophy – that is use of smallest of simple instructions where each instruction perform only one operation.</a:t>
            </a:r>
          </a:p>
          <a:p>
            <a:pPr marL="0" indent="0" algn="l" rtl="0">
              <a:buNone/>
            </a:pPr>
            <a:endParaRPr lang="en-US" dirty="0"/>
          </a:p>
          <a:p>
            <a:pPr marL="0" indent="0" algn="l" rtl="0">
              <a:buNone/>
            </a:pPr>
            <a:r>
              <a:rPr lang="en-US" dirty="0"/>
              <a:t>In RISC-V there are 6 different formats:</a:t>
            </a:r>
          </a:p>
          <a:p>
            <a:pPr marL="228600" indent="-228600" algn="l" rtl="0">
              <a:buAutoNum type="arabicPeriod"/>
            </a:pPr>
            <a:r>
              <a:rPr lang="en-US" dirty="0"/>
              <a:t>R-type – for arithmetic and logical operations between two registers.</a:t>
            </a:r>
          </a:p>
          <a:p>
            <a:pPr marL="228600" indent="-228600" algn="l" rtl="0">
              <a:buAutoNum type="arabicPeriod"/>
            </a:pPr>
            <a:r>
              <a:rPr lang="en-US" dirty="0"/>
              <a:t>I-type – for arithmetic and logical operations with an immediate, loads, jumps and system calls.</a:t>
            </a:r>
            <a:endParaRPr lang="he-IL" dirty="0"/>
          </a:p>
          <a:p>
            <a:pPr marL="228600" indent="-228600" algn="l" rtl="0">
              <a:buAutoNum type="arabicPeriod"/>
            </a:pPr>
            <a:r>
              <a:rPr lang="en-US" dirty="0"/>
              <a:t>S-type – for store operations.</a:t>
            </a:r>
          </a:p>
          <a:p>
            <a:pPr marL="228600" indent="-228600" algn="l" rtl="0">
              <a:buAutoNum type="arabicPeriod"/>
            </a:pPr>
            <a:r>
              <a:rPr lang="en-US" dirty="0"/>
              <a:t>B-type – for conditional jumps.</a:t>
            </a:r>
          </a:p>
          <a:p>
            <a:pPr marL="228600" indent="-228600" algn="l" rtl="0">
              <a:buAutoNum type="arabicPeriod"/>
            </a:pPr>
            <a:r>
              <a:rPr lang="en-US" dirty="0"/>
              <a:t>U-type – for upper immediate operations.</a:t>
            </a:r>
          </a:p>
          <a:p>
            <a:pPr marL="228600" indent="-228600" algn="l" rtl="0">
              <a:buAutoNum type="arabicPeriod"/>
            </a:pPr>
            <a:r>
              <a:rPr lang="en-US" dirty="0"/>
              <a:t>J-type – for jumps.</a:t>
            </a:r>
          </a:p>
          <a:p>
            <a:pPr marL="228600" indent="-228600" algn="l" rtl="0">
              <a:buAutoNum type="arabicPeriod"/>
            </a:pPr>
            <a:endParaRPr lang="en-US" dirty="0"/>
          </a:p>
          <a:p>
            <a:pPr marL="0" indent="0" algn="l" rtl="0">
              <a:buNone/>
            </a:pPr>
            <a:r>
              <a:rPr lang="en-US" dirty="0"/>
              <a:t>ABI defines how the binary code communicate with the operating system. It determine:</a:t>
            </a:r>
          </a:p>
          <a:p>
            <a:pPr marL="228600" indent="-228600" algn="l" rtl="0">
              <a:buAutoNum type="arabicPeriod"/>
            </a:pPr>
            <a:r>
              <a:rPr lang="en-US" dirty="0"/>
              <a:t>The registers names and their role.</a:t>
            </a:r>
          </a:p>
          <a:p>
            <a:pPr marL="228600" indent="-228600" algn="l" rtl="0">
              <a:buAutoNum type="arabicPeriod"/>
            </a:pPr>
            <a:r>
              <a:rPr lang="en-US" dirty="0"/>
              <a:t>Which registers are saved by the callee or caller.</a:t>
            </a:r>
          </a:p>
          <a:p>
            <a:pPr marL="228600" indent="-228600" algn="l" rtl="0">
              <a:buAutoNum type="arabicPeriod"/>
            </a:pPr>
            <a:r>
              <a:rPr lang="en-US" dirty="0"/>
              <a:t>Which arguments are supposed to be passed to a function and restored on each stage.</a:t>
            </a:r>
          </a:p>
          <a:p>
            <a:pPr marL="228600" indent="-228600" algn="l" rtl="0">
              <a:buAutoNum type="arabicPeriod"/>
            </a:pPr>
            <a:endParaRPr lang="en-US" dirty="0"/>
          </a:p>
          <a:p>
            <a:pPr marL="0" indent="0" algn="l" rtl="0">
              <a:buNone/>
            </a:pPr>
            <a:r>
              <a:rPr lang="en-US" dirty="0"/>
              <a:t>As stated, RISC-V is a modular architecture which means you can implement what extensions you want to use according to your system needs.</a:t>
            </a:r>
          </a:p>
          <a:p>
            <a:pPr marL="0" indent="0" algn="l" rtl="0">
              <a:buNone/>
            </a:pPr>
            <a:r>
              <a:rPr lang="en-US" dirty="0"/>
              <a:t>There are many extensions in the RISC-V architecture, some of them are:</a:t>
            </a:r>
          </a:p>
          <a:p>
            <a:pPr marL="228600" indent="-228600" algn="l" rtl="0">
              <a:buAutoNum type="arabicPeriod"/>
            </a:pPr>
            <a:r>
              <a:rPr lang="en-US" dirty="0"/>
              <a:t>M – for multiplication and division operations.</a:t>
            </a:r>
          </a:p>
          <a:p>
            <a:pPr marL="228600" indent="-228600" algn="l" rtl="0">
              <a:buAutoNum type="arabicPeriod"/>
            </a:pPr>
            <a:r>
              <a:rPr lang="en-US" dirty="0"/>
              <a:t>C – for compressed instructions.</a:t>
            </a:r>
          </a:p>
          <a:p>
            <a:pPr marL="228600" indent="-228600" algn="l" rtl="0">
              <a:buAutoNum type="arabicPeriod"/>
            </a:pPr>
            <a:r>
              <a:rPr lang="en-US" dirty="0"/>
              <a:t>F/D – for single and double precision floating point.</a:t>
            </a:r>
          </a:p>
          <a:p>
            <a:pPr marL="228600" indent="-228600" algn="l" rtl="0">
              <a:buAutoNum type="arabicPeriod"/>
            </a:pPr>
            <a:r>
              <a:rPr lang="en-US" dirty="0"/>
              <a:t>A – atomic operations.</a:t>
            </a:r>
          </a:p>
          <a:p>
            <a:pPr marL="228600" indent="-228600" algn="l" rtl="0">
              <a:buAutoNum type="arabicPeriod"/>
            </a:pPr>
            <a:endParaRPr lang="en-US" dirty="0"/>
          </a:p>
          <a:p>
            <a:pPr marL="0" indent="0" algn="l" rtl="0">
              <a:buNone/>
            </a:pPr>
            <a:r>
              <a:rPr lang="en-US" dirty="0"/>
              <a:t>There are many approaches to implement a RISC-V processor including: single cycle, multi cycle, pipelined (3,5 or 7), superscalar and many more.</a:t>
            </a:r>
          </a:p>
          <a:p>
            <a:pPr marL="0" indent="0" algn="l" rtl="0">
              <a:buNone/>
            </a:pPr>
            <a:r>
              <a:rPr lang="en-US" dirty="0"/>
              <a:t>In this project we chose  to implement the first 3.</a:t>
            </a:r>
          </a:p>
          <a:p>
            <a:pPr marL="0" indent="0" algn="l" rtl="0">
              <a:buNone/>
            </a:pPr>
            <a:endParaRPr lang="en-US" dirty="0"/>
          </a:p>
          <a:p>
            <a:pPr marL="228600" indent="-228600" algn="r" rtl="1">
              <a:buAutoNum type="arabicPeriod"/>
            </a:pPr>
            <a:r>
              <a:rPr lang="he-IL" dirty="0"/>
              <a:t>לדבר על מתי נוצר ואיפה.</a:t>
            </a:r>
          </a:p>
          <a:p>
            <a:pPr marL="228600" indent="-228600" algn="r" rtl="1">
              <a:buAutoNum type="arabicPeriod"/>
            </a:pPr>
            <a:r>
              <a:rPr lang="he-IL" dirty="0"/>
              <a:t>להסביר בקצרה מזה </a:t>
            </a:r>
            <a:r>
              <a:rPr lang="en-US" dirty="0"/>
              <a:t>ISA</a:t>
            </a:r>
            <a:r>
              <a:rPr lang="he-IL" dirty="0"/>
              <a:t> וואיך קשור.</a:t>
            </a:r>
          </a:p>
          <a:p>
            <a:pPr marL="228600" indent="-228600" algn="r" rtl="1">
              <a:buAutoNum type="arabicPeriod"/>
            </a:pPr>
            <a:r>
              <a:rPr lang="he-IL" dirty="0"/>
              <a:t>להסביר בקצרה על הפורמטים השונים </a:t>
            </a:r>
            <a:r>
              <a:rPr lang="en-US" dirty="0"/>
              <a:t>R</a:t>
            </a:r>
            <a:r>
              <a:rPr lang="he-IL" dirty="0"/>
              <a:t> </a:t>
            </a:r>
            <a:r>
              <a:rPr lang="en-US" dirty="0"/>
              <a:t>S</a:t>
            </a:r>
            <a:r>
              <a:rPr lang="he-IL" dirty="0"/>
              <a:t> </a:t>
            </a:r>
            <a:r>
              <a:rPr lang="en-US" dirty="0"/>
              <a:t>U</a:t>
            </a:r>
            <a:r>
              <a:rPr lang="he-IL" dirty="0"/>
              <a:t> </a:t>
            </a:r>
            <a:r>
              <a:rPr lang="en-US" dirty="0"/>
              <a:t>I</a:t>
            </a:r>
            <a:r>
              <a:rPr lang="he-IL" dirty="0"/>
              <a:t> </a:t>
            </a:r>
            <a:r>
              <a:rPr lang="en-US" dirty="0"/>
              <a:t>B</a:t>
            </a:r>
            <a:r>
              <a:rPr lang="he-IL" dirty="0"/>
              <a:t> </a:t>
            </a:r>
            <a:r>
              <a:rPr lang="en-US" dirty="0"/>
              <a:t>J</a:t>
            </a:r>
            <a:endParaRPr lang="he-IL" dirty="0"/>
          </a:p>
          <a:p>
            <a:pPr marL="228600" indent="-228600" algn="r" rtl="1">
              <a:buAutoNum type="arabicPeriod"/>
            </a:pPr>
            <a:r>
              <a:rPr lang="he-IL" dirty="0"/>
              <a:t>הסבר </a:t>
            </a:r>
            <a:r>
              <a:rPr lang="en-US" dirty="0"/>
              <a:t>ABI</a:t>
            </a:r>
            <a:endParaRPr lang="he-IL" dirty="0"/>
          </a:p>
          <a:p>
            <a:pPr marL="228600" indent="-228600" algn="r" rtl="1">
              <a:buAutoNum type="arabicPeriod"/>
            </a:pPr>
            <a:r>
              <a:rPr lang="he-IL" dirty="0"/>
              <a:t>הסבר על חלק מההרחבות הקיימות </a:t>
            </a:r>
            <a:r>
              <a:rPr lang="en-US" dirty="0"/>
              <a:t>M</a:t>
            </a:r>
            <a:r>
              <a:rPr lang="he-IL" dirty="0"/>
              <a:t> </a:t>
            </a:r>
            <a:r>
              <a:rPr lang="en-US" dirty="0"/>
              <a:t>C</a:t>
            </a:r>
            <a:r>
              <a:rPr lang="he-IL" dirty="0"/>
              <a:t> וכו</a:t>
            </a:r>
          </a:p>
          <a:p>
            <a:pPr marL="228600" indent="-228600" algn="r" rtl="1">
              <a:buAutoNum type="arabicPeriod"/>
            </a:pPr>
            <a:r>
              <a:rPr lang="he-IL" dirty="0"/>
              <a:t>הסבר קצר על </a:t>
            </a:r>
            <a:r>
              <a:rPr lang="en-US" dirty="0"/>
              <a:t>SINGLE</a:t>
            </a:r>
            <a:r>
              <a:rPr lang="he-IL" dirty="0"/>
              <a:t> </a:t>
            </a:r>
            <a:r>
              <a:rPr lang="en-US" dirty="0"/>
              <a:t>MULTI</a:t>
            </a:r>
            <a:r>
              <a:rPr lang="he-IL" dirty="0"/>
              <a:t> </a:t>
            </a:r>
            <a:r>
              <a:rPr lang="en-US" dirty="0"/>
              <a:t>PIPELINED</a:t>
            </a:r>
            <a:endParaRPr lang="en-IL" dirty="0"/>
          </a:p>
        </p:txBody>
      </p:sp>
      <p:sp>
        <p:nvSpPr>
          <p:cNvPr id="4" name="Slide Number Placeholder 3"/>
          <p:cNvSpPr>
            <a:spLocks noGrp="1"/>
          </p:cNvSpPr>
          <p:nvPr>
            <p:ph type="sldNum" sz="quarter" idx="5"/>
          </p:nvPr>
        </p:nvSpPr>
        <p:spPr/>
        <p:txBody>
          <a:bodyPr/>
          <a:lstStyle/>
          <a:p>
            <a:fld id="{1E8BFC90-B73C-4B46-9F31-D0E93EFA2C71}" type="slidenum">
              <a:rPr lang="en-IL" smtClean="0"/>
              <a:t>3</a:t>
            </a:fld>
            <a:endParaRPr lang="en-IL"/>
          </a:p>
        </p:txBody>
      </p:sp>
    </p:spTree>
    <p:extLst>
      <p:ext uri="{BB962C8B-B14F-4D97-AF65-F5344CB8AC3E}">
        <p14:creationId xmlns:p14="http://schemas.microsoft.com/office/powerpoint/2010/main" val="3636375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algn="l" rtl="0"/>
            <a:r>
              <a:rPr lang="en-US" dirty="0"/>
              <a:t>There are many components in a RISC-V processors the main ones are: PC register, instruction memory, RF, extend unit, ALU and data memory.</a:t>
            </a:r>
          </a:p>
          <a:p>
            <a:pPr algn="l" rtl="0"/>
            <a:r>
              <a:rPr lang="en-US" dirty="0"/>
              <a:t>How they are connected between them determine approach.</a:t>
            </a:r>
          </a:p>
          <a:p>
            <a:pPr algn="l" rtl="0"/>
            <a:r>
              <a:rPr lang="en-US" dirty="0"/>
              <a:t>In the first picture we can see the single cycle vs the pipelined structures. They differ from each other in that that the pipelined is a processor with stage registers between the different stages and each instruction spans across few cycles in contrast to the single cycle that each instruction is occupying only one cycle but its cycle is much slower then the pipelined.</a:t>
            </a:r>
          </a:p>
          <a:p>
            <a:pPr algn="l" rtl="0"/>
            <a:endParaRPr lang="en-US" dirty="0"/>
          </a:p>
          <a:p>
            <a:pPr algn="l" rtl="0"/>
            <a:r>
              <a:rPr lang="en-US" dirty="0"/>
              <a:t>Each of the implemented approaches is divided into two sections: the Datapath and the control unit.</a:t>
            </a:r>
          </a:p>
          <a:p>
            <a:pPr algn="l" rtl="0"/>
            <a:r>
              <a:rPr lang="en-US" dirty="0"/>
              <a:t>Datapath hold all the components of the processor that responsible for executing what the instruction needs.</a:t>
            </a:r>
          </a:p>
          <a:p>
            <a:pPr algn="l" rtl="0"/>
            <a:r>
              <a:rPr lang="en-US" dirty="0"/>
              <a:t>The control unit is responsible for making sure that only the needed components in the Datapath are activated when they are needed in order for the instruction to execute correctly.</a:t>
            </a:r>
          </a:p>
          <a:p>
            <a:pPr algn="l" rtl="0"/>
            <a:endParaRPr lang="en-US" dirty="0"/>
          </a:p>
          <a:p>
            <a:pPr algn="l" rtl="0"/>
            <a:r>
              <a:rPr lang="en-US" dirty="0"/>
              <a:t>When researching the multi cycle approach, we decided that the best way to implement the control unit is with a state machine that flows between different states that determine the control signal for each cycle needed.</a:t>
            </a:r>
          </a:p>
          <a:p>
            <a:pPr algn="l" rtl="0"/>
            <a:endParaRPr lang="en-US" dirty="0"/>
          </a:p>
          <a:p>
            <a:pPr algn="r" rtl="1"/>
            <a:endParaRPr lang="en-US" dirty="0"/>
          </a:p>
          <a:p>
            <a:pPr algn="r" rtl="1"/>
            <a:r>
              <a:rPr lang="he-IL" dirty="0"/>
              <a:t>הסבר קצרצר על ההבדל בין </a:t>
            </a:r>
            <a:r>
              <a:rPr lang="en-US" dirty="0"/>
              <a:t>PIPELINED</a:t>
            </a:r>
            <a:r>
              <a:rPr lang="he-IL" dirty="0"/>
              <a:t> ל </a:t>
            </a:r>
            <a:r>
              <a:rPr lang="en-US" dirty="0"/>
              <a:t>SINGLE</a:t>
            </a:r>
            <a:r>
              <a:rPr lang="he-IL" dirty="0"/>
              <a:t> (תמונ שמאל)</a:t>
            </a:r>
          </a:p>
          <a:p>
            <a:pPr algn="r" rtl="1"/>
            <a:r>
              <a:rPr lang="he-IL" dirty="0"/>
              <a:t>סבר על </a:t>
            </a:r>
            <a:r>
              <a:rPr lang="en-US" dirty="0"/>
              <a:t>DATAPATH</a:t>
            </a:r>
            <a:r>
              <a:rPr lang="he-IL" dirty="0"/>
              <a:t> ו יחידת בקרה (תמונה שמאל ותמונה תחתונה)</a:t>
            </a:r>
          </a:p>
          <a:p>
            <a:pPr algn="r" rtl="1"/>
            <a:r>
              <a:rPr lang="he-IL" dirty="0"/>
              <a:t>הסבר על ביצוע מכונת מצבים ביחידת הבקרה של ה </a:t>
            </a:r>
            <a:r>
              <a:rPr lang="en-US" dirty="0"/>
              <a:t>MULTI</a:t>
            </a:r>
            <a:endParaRPr lang="en-IL" dirty="0"/>
          </a:p>
        </p:txBody>
      </p:sp>
      <p:sp>
        <p:nvSpPr>
          <p:cNvPr id="4" name="Slide Number Placeholder 3"/>
          <p:cNvSpPr>
            <a:spLocks noGrp="1"/>
          </p:cNvSpPr>
          <p:nvPr>
            <p:ph type="sldNum" sz="quarter" idx="5"/>
          </p:nvPr>
        </p:nvSpPr>
        <p:spPr/>
        <p:txBody>
          <a:bodyPr/>
          <a:lstStyle/>
          <a:p>
            <a:fld id="{1E8BFC90-B73C-4B46-9F31-D0E93EFA2C71}" type="slidenum">
              <a:rPr lang="en-IL" smtClean="0"/>
              <a:t>4</a:t>
            </a:fld>
            <a:endParaRPr lang="en-IL"/>
          </a:p>
        </p:txBody>
      </p:sp>
    </p:spTree>
    <p:extLst>
      <p:ext uri="{BB962C8B-B14F-4D97-AF65-F5344CB8AC3E}">
        <p14:creationId xmlns:p14="http://schemas.microsoft.com/office/powerpoint/2010/main" val="1692389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algn="l" rtl="0"/>
            <a:r>
              <a:rPr lang="en-US" dirty="0"/>
              <a:t> when we decided to work with FPGA there is a certain design flow we had to follow.</a:t>
            </a:r>
          </a:p>
          <a:p>
            <a:pPr algn="l" rtl="0"/>
            <a:endParaRPr lang="en-US" dirty="0"/>
          </a:p>
          <a:p>
            <a:pPr algn="l" rtl="0"/>
            <a:r>
              <a:rPr lang="en-US" dirty="0"/>
              <a:t>First of all is the Design. We had to plan and describe our processor. According to that we programed in System Verilog all the modules and defined all the inputs and outputs of the system. In the end of the stage, we had a RTL design of our Processor.</a:t>
            </a:r>
          </a:p>
          <a:p>
            <a:pPr algn="l" rtl="0"/>
            <a:endParaRPr lang="en-US" dirty="0"/>
          </a:p>
          <a:p>
            <a:pPr algn="l" rtl="0"/>
            <a:r>
              <a:rPr lang="en-US" dirty="0"/>
              <a:t>Next in line is the Simulation. In this stage we needed to verify the design we created. We wrote 6 programs to test all instructions and behaviors of the processor.  All program ran on the processor through a dedicated testbench. We created a HASH code that helped us shorten the time needed to tell if the system worked or not instant.</a:t>
            </a:r>
          </a:p>
          <a:p>
            <a:pPr algn="l" rtl="0"/>
            <a:endParaRPr lang="en-US" dirty="0"/>
          </a:p>
          <a:p>
            <a:pPr algn="l" rtl="0"/>
            <a:r>
              <a:rPr lang="en-US" dirty="0"/>
              <a:t>The third stage is Synthesis. In this stage we used the built in tools in Vivado to convert our SV code into a hardware netlist.</a:t>
            </a:r>
          </a:p>
          <a:p>
            <a:pPr algn="l" rtl="0"/>
            <a:endParaRPr lang="en-US" dirty="0"/>
          </a:p>
          <a:p>
            <a:pPr algn="l" rtl="0"/>
            <a:r>
              <a:rPr lang="en-US" dirty="0"/>
              <a:t>The fourth stage is the Implementation. In this stage we uses Vivado tools to </a:t>
            </a:r>
            <a:r>
              <a:rPr lang="en-US" dirty="0" err="1"/>
              <a:t>physicly</a:t>
            </a:r>
            <a:r>
              <a:rPr lang="en-US" dirty="0"/>
              <a:t> map and connect the synthesized design inside our FPGA. By this stage we already have a placed and routed design and diagram of how it will look.</a:t>
            </a:r>
          </a:p>
          <a:p>
            <a:pPr algn="l" rtl="0"/>
            <a:endParaRPr lang="en-US" dirty="0"/>
          </a:p>
          <a:p>
            <a:pPr algn="l" rtl="0"/>
            <a:r>
              <a:rPr lang="en-US" dirty="0"/>
              <a:t>The last stage after we designed verified and implemented out device is to generate a bitstream and program it on the FPGA. After that we will be able to see and control on the FPGA.</a:t>
            </a:r>
          </a:p>
          <a:p>
            <a:pPr algn="l" rtl="0"/>
            <a:endParaRPr lang="en-US" dirty="0"/>
          </a:p>
          <a:p>
            <a:pPr algn="r" rtl="1"/>
            <a:r>
              <a:rPr lang="he-IL" dirty="0"/>
              <a:t>הסבר על שלבי הפיתוח בעבור </a:t>
            </a:r>
            <a:r>
              <a:rPr lang="en-US" dirty="0"/>
              <a:t>FPGA</a:t>
            </a:r>
            <a:endParaRPr lang="he-IL" dirty="0"/>
          </a:p>
          <a:p>
            <a:pPr algn="r" rtl="1"/>
            <a:r>
              <a:rPr lang="he-IL" dirty="0"/>
              <a:t>עיצוב</a:t>
            </a:r>
          </a:p>
          <a:p>
            <a:pPr algn="r" rtl="1"/>
            <a:r>
              <a:rPr lang="he-IL" dirty="0"/>
              <a:t>סימולצה</a:t>
            </a:r>
          </a:p>
          <a:p>
            <a:pPr algn="r" rtl="1"/>
            <a:r>
              <a:rPr lang="he-IL" dirty="0"/>
              <a:t>סינתזה</a:t>
            </a:r>
          </a:p>
          <a:p>
            <a:pPr algn="r" rtl="1"/>
            <a:r>
              <a:rPr lang="he-IL" dirty="0"/>
              <a:t>אימפלימנטציה </a:t>
            </a:r>
          </a:p>
          <a:p>
            <a:pPr algn="r" rtl="1"/>
            <a:r>
              <a:rPr lang="he-IL" dirty="0"/>
              <a:t>וצריבה על ה </a:t>
            </a:r>
            <a:r>
              <a:rPr lang="en-US" dirty="0"/>
              <a:t>FPGA</a:t>
            </a:r>
            <a:endParaRPr lang="he-IL" dirty="0"/>
          </a:p>
          <a:p>
            <a:pPr algn="r" rtl="1"/>
            <a:endParaRPr lang="he-IL" dirty="0"/>
          </a:p>
        </p:txBody>
      </p:sp>
      <p:sp>
        <p:nvSpPr>
          <p:cNvPr id="4" name="Slide Number Placeholder 3"/>
          <p:cNvSpPr>
            <a:spLocks noGrp="1"/>
          </p:cNvSpPr>
          <p:nvPr>
            <p:ph type="sldNum" sz="quarter" idx="5"/>
          </p:nvPr>
        </p:nvSpPr>
        <p:spPr/>
        <p:txBody>
          <a:bodyPr/>
          <a:lstStyle/>
          <a:p>
            <a:fld id="{1E8BFC90-B73C-4B46-9F31-D0E93EFA2C71}" type="slidenum">
              <a:rPr lang="en-IL" smtClean="0"/>
              <a:t>5</a:t>
            </a:fld>
            <a:endParaRPr lang="en-IL"/>
          </a:p>
        </p:txBody>
      </p:sp>
    </p:spTree>
    <p:extLst>
      <p:ext uri="{BB962C8B-B14F-4D97-AF65-F5344CB8AC3E}">
        <p14:creationId xmlns:p14="http://schemas.microsoft.com/office/powerpoint/2010/main" val="6215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r>
              <a:rPr lang="en-US" dirty="0"/>
              <a:t>In the end of the project, we had in our hand a functioning RV32IM Processor which was program in system Verilog. </a:t>
            </a:r>
          </a:p>
          <a:p>
            <a:r>
              <a:rPr lang="en-US" dirty="0"/>
              <a:t>We implemented the processor various ways including: Single cycle, Multi Cycle and Pipelined. This choice allowed us to gain full understanding of RISC-V and Computer Architecture.</a:t>
            </a:r>
          </a:p>
          <a:p>
            <a:r>
              <a:rPr lang="en-US" dirty="0"/>
              <a:t>We also wrote 6 different assembly code which we later translated to Machine code. These files were used in the simulation to check the Processor and were programed into the BRAM of the FPGA to see that it works there as well.</a:t>
            </a:r>
            <a:endParaRPr lang="en-IL" dirty="0"/>
          </a:p>
        </p:txBody>
      </p:sp>
      <p:sp>
        <p:nvSpPr>
          <p:cNvPr id="4" name="Slide Number Placeholder 3"/>
          <p:cNvSpPr>
            <a:spLocks noGrp="1"/>
          </p:cNvSpPr>
          <p:nvPr>
            <p:ph type="sldNum" sz="quarter" idx="5"/>
          </p:nvPr>
        </p:nvSpPr>
        <p:spPr/>
        <p:txBody>
          <a:bodyPr/>
          <a:lstStyle/>
          <a:p>
            <a:fld id="{1E8BFC90-B73C-4B46-9F31-D0E93EFA2C71}" type="slidenum">
              <a:rPr lang="en-IL" smtClean="0"/>
              <a:t>6</a:t>
            </a:fld>
            <a:endParaRPr lang="en-IL"/>
          </a:p>
        </p:txBody>
      </p:sp>
    </p:spTree>
    <p:extLst>
      <p:ext uri="{BB962C8B-B14F-4D97-AF65-F5344CB8AC3E}">
        <p14:creationId xmlns:p14="http://schemas.microsoft.com/office/powerpoint/2010/main" val="1840609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marL="0" indent="0" algn="l" rtl="0">
              <a:buNone/>
            </a:pPr>
            <a:r>
              <a:rPr lang="en-US" dirty="0"/>
              <a:t>We had few challenges throughout our project.</a:t>
            </a:r>
          </a:p>
          <a:p>
            <a:pPr marL="0" indent="0" algn="l" rtl="0">
              <a:buNone/>
            </a:pPr>
            <a:r>
              <a:rPr lang="en-US" dirty="0"/>
              <a:t>When working on the pipelined processor we needed to design a hazard unit that will solve several problems that may occur while it runs.</a:t>
            </a:r>
          </a:p>
          <a:p>
            <a:pPr marL="0" indent="0" algn="l" rtl="0">
              <a:buNone/>
            </a:pPr>
            <a:r>
              <a:rPr lang="en-US" dirty="0"/>
              <a:t>Some of the problems are data  and control hazards.</a:t>
            </a:r>
          </a:p>
          <a:p>
            <a:pPr marL="0" indent="0" algn="l" rtl="0">
              <a:buNone/>
            </a:pPr>
            <a:r>
              <a:rPr lang="en-US" dirty="0"/>
              <a:t>Data hazards may occur when data that is needed in a following instruction is yet to be updated in the register file. We solved this problem by forwarding the data from the first instruction to the instruction that needed the data before it written back into the register file.</a:t>
            </a:r>
          </a:p>
          <a:p>
            <a:pPr marL="0" indent="0" algn="l" rtl="0">
              <a:buNone/>
            </a:pPr>
            <a:r>
              <a:rPr lang="en-US" dirty="0"/>
              <a:t>Another data hazard we had to solve is LW-dependency. Which occur when we load a data from memory is needed in a following instruction that is in the execute stage. We solve it by stalling our first two stage registers and flushing our execute register.</a:t>
            </a:r>
          </a:p>
          <a:p>
            <a:pPr marL="0" indent="0" algn="l" rtl="0">
              <a:buNone/>
            </a:pPr>
            <a:r>
              <a:rPr lang="en-US" dirty="0"/>
              <a:t>The third hazard is a control hazard which occur when we are in a conditional branch instruction which is yet to decide where to jump. When the jump is not to the next instruction a hazard occur because we already started the following instructions but need to jump to a different location in the program. This hazard is solved by flushing our IF and ID stage registers.</a:t>
            </a:r>
          </a:p>
          <a:p>
            <a:pPr marL="0" indent="0" algn="l" rtl="0">
              <a:buNone/>
            </a:pPr>
            <a:endParaRPr lang="en-US" dirty="0"/>
          </a:p>
          <a:p>
            <a:pPr marL="0" indent="0" algn="l" rtl="0">
              <a:buNone/>
            </a:pPr>
            <a:r>
              <a:rPr lang="en-US" dirty="0"/>
              <a:t>The second problem we had is with the M-Unit. We needed to create the different operations exactly according to the RISC-V guidelines. The problem was to integrate this unit flawlessly into the existing RV32I Processor without compromising the other instructions that already work or the different modules that are affected.(</a:t>
            </a:r>
            <a:r>
              <a:rPr lang="he-IL" dirty="0"/>
              <a:t>קושי לשלב יחידת חישוב חדשה שמבצעת פעולות כבודת יותר מבלי לשבור את שאר המעבד שפועל כבר בצורה תקינה , כלומר לשמור על תאימות ל</a:t>
            </a:r>
            <a:r>
              <a:rPr lang="en-US" dirty="0"/>
              <a:t>RV32I</a:t>
            </a:r>
            <a:r>
              <a:rPr lang="he-IL" dirty="0"/>
              <a:t>  (</a:t>
            </a:r>
            <a:endParaRPr lang="en-US" dirty="0"/>
          </a:p>
          <a:p>
            <a:pPr marL="0" indent="0" algn="l" rtl="0">
              <a:buNone/>
            </a:pPr>
            <a:endParaRPr lang="en-US" dirty="0"/>
          </a:p>
          <a:p>
            <a:pPr marL="0" indent="0" algn="l" rtl="0">
              <a:buNone/>
            </a:pPr>
            <a:r>
              <a:rPr lang="en-US" dirty="0"/>
              <a:t>When getting into the final stages of the RISC-V Project we needed to design a driver for the 7 segments display as well as a frequency divider in order for our eye to see and process the data which is presented instead of it going in speeds that out eyes can comprehend. </a:t>
            </a:r>
          </a:p>
          <a:p>
            <a:pPr marL="0" indent="0" algn="l" rtl="0">
              <a:buNone/>
            </a:pPr>
            <a:endParaRPr lang="en-US" dirty="0"/>
          </a:p>
          <a:p>
            <a:pPr marL="0" indent="0" algn="l" rtl="0">
              <a:buNone/>
            </a:pPr>
            <a:r>
              <a:rPr lang="en-US" dirty="0"/>
              <a:t>The last challenge we had is in the simulation and after programing the FPGA. We needed a fast and reliable way to tell if the Processor we checked is working according to one of the 6 programs we ran on it. Therefore, we created a HASH code for each program the calculate according to live data if the program ran correctly or not. This method saved us a lot of time as we didn’t need to check the waveform and registers values throughout the program.</a:t>
            </a:r>
          </a:p>
          <a:p>
            <a:pPr marL="0" indent="0" algn="l" rtl="0">
              <a:buNone/>
            </a:pPr>
            <a:endParaRPr lang="en-US" dirty="0"/>
          </a:p>
        </p:txBody>
      </p:sp>
      <p:sp>
        <p:nvSpPr>
          <p:cNvPr id="4" name="Slide Number Placeholder 3"/>
          <p:cNvSpPr>
            <a:spLocks noGrp="1"/>
          </p:cNvSpPr>
          <p:nvPr>
            <p:ph type="sldNum" sz="quarter" idx="5"/>
          </p:nvPr>
        </p:nvSpPr>
        <p:spPr/>
        <p:txBody>
          <a:bodyPr/>
          <a:lstStyle/>
          <a:p>
            <a:fld id="{1E8BFC90-B73C-4B46-9F31-D0E93EFA2C71}" type="slidenum">
              <a:rPr lang="en-IL" smtClean="0"/>
              <a:t>7</a:t>
            </a:fld>
            <a:endParaRPr lang="en-IL"/>
          </a:p>
        </p:txBody>
      </p:sp>
    </p:spTree>
    <p:extLst>
      <p:ext uri="{BB962C8B-B14F-4D97-AF65-F5344CB8AC3E}">
        <p14:creationId xmlns:p14="http://schemas.microsoft.com/office/powerpoint/2010/main" val="3473448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E8BFC90-B73C-4B46-9F31-D0E93EFA2C71}" type="slidenum">
              <a:rPr lang="en-IL" smtClean="0"/>
              <a:t>8</a:t>
            </a:fld>
            <a:endParaRPr lang="en-IL"/>
          </a:p>
        </p:txBody>
      </p:sp>
    </p:spTree>
    <p:extLst>
      <p:ext uri="{BB962C8B-B14F-4D97-AF65-F5344CB8AC3E}">
        <p14:creationId xmlns:p14="http://schemas.microsoft.com/office/powerpoint/2010/main" val="593216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43250-54D6-F3C8-6F68-A29F38B24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980E9-9E08-2AF9-0E3E-38FB5C6E1712}"/>
              </a:ext>
            </a:extLst>
          </p:cNvPr>
          <p:cNvSpPr>
            <a:spLocks noGrp="1" noRot="1" noChangeAspect="1"/>
          </p:cNvSpPr>
          <p:nvPr>
            <p:ph type="sldImg"/>
          </p:nvPr>
        </p:nvSpPr>
        <p:spPr/>
        <p:txBody>
          <a:bodyPr/>
          <a:lstStyle/>
          <a:p>
            <a:endParaRPr lang="en-IL"/>
          </a:p>
        </p:txBody>
      </p:sp>
      <p:sp>
        <p:nvSpPr>
          <p:cNvPr id="3" name="Notes Placeholder 2">
            <a:extLst>
              <a:ext uri="{FF2B5EF4-FFF2-40B4-BE49-F238E27FC236}">
                <a16:creationId xmlns:a16="http://schemas.microsoft.com/office/drawing/2014/main" id="{7C0B69A8-8767-D996-3B28-FA4EAFBF4F66}"/>
              </a:ext>
            </a:extLst>
          </p:cNvPr>
          <p:cNvSpPr>
            <a:spLocks noGrp="1"/>
          </p:cNvSpPr>
          <p:nvPr>
            <p:ph type="body" idx="1"/>
          </p:nvPr>
        </p:nvSpPr>
        <p:spPr/>
        <p:txBody>
          <a:bodyPr/>
          <a:lstStyle/>
          <a:p>
            <a:r>
              <a:rPr lang="en-US" dirty="0">
                <a:solidFill>
                  <a:srgbClr val="E5B445"/>
                </a:solidFill>
              </a:rPr>
              <a:t>Adding support for peripherals to control the CPU and show more of its capabilities.</a:t>
            </a:r>
          </a:p>
          <a:p>
            <a:r>
              <a:rPr lang="en-US" dirty="0">
                <a:solidFill>
                  <a:srgbClr val="E5B445"/>
                </a:solidFill>
              </a:rPr>
              <a:t>Create and connect a working assembler for the RISV-V Processor.</a:t>
            </a:r>
          </a:p>
          <a:p>
            <a:r>
              <a:rPr lang="en-US" dirty="0">
                <a:solidFill>
                  <a:srgbClr val="E5B445"/>
                </a:solidFill>
              </a:rPr>
              <a:t>Optimize algorithms embedded in the CPU and saving on resources, essentially making the CPU even faster.</a:t>
            </a:r>
          </a:p>
          <a:p>
            <a:r>
              <a:rPr lang="en-US" dirty="0">
                <a:solidFill>
                  <a:srgbClr val="E5B445"/>
                </a:solidFill>
              </a:rPr>
              <a:t>Implementing more extensions of RISC-V to extended the PROCESSOR capabilities.</a:t>
            </a:r>
          </a:p>
        </p:txBody>
      </p:sp>
      <p:sp>
        <p:nvSpPr>
          <p:cNvPr id="4" name="Slide Number Placeholder 3">
            <a:extLst>
              <a:ext uri="{FF2B5EF4-FFF2-40B4-BE49-F238E27FC236}">
                <a16:creationId xmlns:a16="http://schemas.microsoft.com/office/drawing/2014/main" id="{221C99A3-15C2-3FD0-C581-13B0820160AF}"/>
              </a:ext>
            </a:extLst>
          </p:cNvPr>
          <p:cNvSpPr>
            <a:spLocks noGrp="1"/>
          </p:cNvSpPr>
          <p:nvPr>
            <p:ph type="sldNum" sz="quarter" idx="5"/>
          </p:nvPr>
        </p:nvSpPr>
        <p:spPr/>
        <p:txBody>
          <a:bodyPr/>
          <a:lstStyle/>
          <a:p>
            <a:fld id="{1E8BFC90-B73C-4B46-9F31-D0E93EFA2C71}" type="slidenum">
              <a:rPr lang="en-IL" smtClean="0"/>
              <a:t>9</a:t>
            </a:fld>
            <a:endParaRPr lang="en-IL"/>
          </a:p>
        </p:txBody>
      </p:sp>
    </p:spTree>
    <p:extLst>
      <p:ext uri="{BB962C8B-B14F-4D97-AF65-F5344CB8AC3E}">
        <p14:creationId xmlns:p14="http://schemas.microsoft.com/office/powerpoint/2010/main" val="2721016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F5094-8722-8C84-CA1E-76156FA1B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F90C62-90C8-8F4F-5215-DF04BFE2E96D}"/>
              </a:ext>
            </a:extLst>
          </p:cNvPr>
          <p:cNvSpPr>
            <a:spLocks noGrp="1" noRot="1" noChangeAspect="1"/>
          </p:cNvSpPr>
          <p:nvPr>
            <p:ph type="sldImg"/>
          </p:nvPr>
        </p:nvSpPr>
        <p:spPr/>
        <p:txBody>
          <a:bodyPr/>
          <a:lstStyle/>
          <a:p>
            <a:endParaRPr lang="en-IL"/>
          </a:p>
        </p:txBody>
      </p:sp>
      <p:sp>
        <p:nvSpPr>
          <p:cNvPr id="3" name="Notes Placeholder 2">
            <a:extLst>
              <a:ext uri="{FF2B5EF4-FFF2-40B4-BE49-F238E27FC236}">
                <a16:creationId xmlns:a16="http://schemas.microsoft.com/office/drawing/2014/main" id="{FA3A2098-CEB4-5143-86A9-9BC905AAB62D}"/>
              </a:ext>
            </a:extLst>
          </p:cNvPr>
          <p:cNvSpPr>
            <a:spLocks noGrp="1"/>
          </p:cNvSpPr>
          <p:nvPr>
            <p:ph type="body" idx="1"/>
          </p:nvPr>
        </p:nvSpPr>
        <p:spPr/>
        <p:txBody>
          <a:bodyPr/>
          <a:lstStyle/>
          <a:p>
            <a:r>
              <a:rPr lang="en-US" dirty="0"/>
              <a:t>We created a working RISC-V Soft-core that is fast and reliable executing all instructions correctly and according to the RISC-V guideline.</a:t>
            </a:r>
          </a:p>
          <a:p>
            <a:r>
              <a:rPr lang="en-US" dirty="0"/>
              <a:t>We also provided definite proof for </a:t>
            </a:r>
            <a:r>
              <a:rPr lang="en-US" dirty="0">
                <a:solidFill>
                  <a:srgbClr val="E5B445"/>
                </a:solidFill>
              </a:rPr>
              <a:t>superiority of Pipelined on Single cycle and Multi cycle when looking at it from an execution time stand point. </a:t>
            </a:r>
          </a:p>
          <a:p>
            <a:r>
              <a:rPr lang="en-US" dirty="0">
                <a:solidFill>
                  <a:srgbClr val="E5B445"/>
                </a:solidFill>
              </a:rPr>
              <a:t>However, the pipelined took more resources </a:t>
            </a:r>
            <a:r>
              <a:rPr lang="en-US" dirty="0"/>
              <a:t> when implemented from the other two which correspond with what we </a:t>
            </a:r>
            <a:r>
              <a:rPr lang="en-US" dirty="0" err="1"/>
              <a:t>opredicted</a:t>
            </a:r>
            <a:r>
              <a:rPr lang="en-US" dirty="0"/>
              <a:t>.</a:t>
            </a:r>
            <a:endParaRPr lang="en-IL" dirty="0"/>
          </a:p>
        </p:txBody>
      </p:sp>
      <p:sp>
        <p:nvSpPr>
          <p:cNvPr id="4" name="Slide Number Placeholder 3">
            <a:extLst>
              <a:ext uri="{FF2B5EF4-FFF2-40B4-BE49-F238E27FC236}">
                <a16:creationId xmlns:a16="http://schemas.microsoft.com/office/drawing/2014/main" id="{94E28FAB-2E1A-DDD7-8F74-BD84C21277F0}"/>
              </a:ext>
            </a:extLst>
          </p:cNvPr>
          <p:cNvSpPr>
            <a:spLocks noGrp="1"/>
          </p:cNvSpPr>
          <p:nvPr>
            <p:ph type="sldNum" sz="quarter" idx="5"/>
          </p:nvPr>
        </p:nvSpPr>
        <p:spPr/>
        <p:txBody>
          <a:bodyPr/>
          <a:lstStyle/>
          <a:p>
            <a:fld id="{1E8BFC90-B73C-4B46-9F31-D0E93EFA2C71}" type="slidenum">
              <a:rPr lang="en-IL" smtClean="0"/>
              <a:t>10</a:t>
            </a:fld>
            <a:endParaRPr lang="en-IL"/>
          </a:p>
        </p:txBody>
      </p:sp>
    </p:spTree>
    <p:extLst>
      <p:ext uri="{BB962C8B-B14F-4D97-AF65-F5344CB8AC3E}">
        <p14:creationId xmlns:p14="http://schemas.microsoft.com/office/powerpoint/2010/main" val="1220126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354FC-E43E-5D0D-CEA8-2F4BCA7F031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L"/>
          </a:p>
        </p:txBody>
      </p:sp>
      <p:sp>
        <p:nvSpPr>
          <p:cNvPr id="3" name="Subtitle 2">
            <a:extLst>
              <a:ext uri="{FF2B5EF4-FFF2-40B4-BE49-F238E27FC236}">
                <a16:creationId xmlns:a16="http://schemas.microsoft.com/office/drawing/2014/main" id="{4B5F7A78-1300-0A04-EA3A-AF1B1C88FF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L"/>
          </a:p>
        </p:txBody>
      </p:sp>
      <p:sp>
        <p:nvSpPr>
          <p:cNvPr id="4" name="Date Placeholder 3">
            <a:extLst>
              <a:ext uri="{FF2B5EF4-FFF2-40B4-BE49-F238E27FC236}">
                <a16:creationId xmlns:a16="http://schemas.microsoft.com/office/drawing/2014/main" id="{54EDC9CB-C323-C84B-BACD-7E72FFDBB21B}"/>
              </a:ext>
            </a:extLst>
          </p:cNvPr>
          <p:cNvSpPr>
            <a:spLocks noGrp="1"/>
          </p:cNvSpPr>
          <p:nvPr>
            <p:ph type="dt" sz="half" idx="10"/>
          </p:nvPr>
        </p:nvSpPr>
        <p:spPr/>
        <p:txBody>
          <a:bodyPr/>
          <a:lstStyle/>
          <a:p>
            <a:fld id="{A1AD287F-ADF4-4BCB-986B-7AB40E6FCE1E}" type="datetimeFigureOut">
              <a:rPr lang="en-IL" smtClean="0"/>
              <a:t>11/10/2025</a:t>
            </a:fld>
            <a:endParaRPr lang="en-IL"/>
          </a:p>
        </p:txBody>
      </p:sp>
      <p:sp>
        <p:nvSpPr>
          <p:cNvPr id="5" name="Footer Placeholder 4">
            <a:extLst>
              <a:ext uri="{FF2B5EF4-FFF2-40B4-BE49-F238E27FC236}">
                <a16:creationId xmlns:a16="http://schemas.microsoft.com/office/drawing/2014/main" id="{C73A3542-09F0-0A8F-0EEB-AB47346997FC}"/>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7F64937-1607-5BE6-CD82-0D6E246C4EFE}"/>
              </a:ext>
            </a:extLst>
          </p:cNvPr>
          <p:cNvSpPr>
            <a:spLocks noGrp="1"/>
          </p:cNvSpPr>
          <p:nvPr>
            <p:ph type="sldNum" sz="quarter" idx="12"/>
          </p:nvPr>
        </p:nvSpPr>
        <p:spPr/>
        <p:txBody>
          <a:bodyPr/>
          <a:lstStyle/>
          <a:p>
            <a:fld id="{424BDED6-2C8D-460E-BEE7-26655AC382BD}" type="slidenum">
              <a:rPr lang="en-IL" smtClean="0"/>
              <a:t>‹#›</a:t>
            </a:fld>
            <a:endParaRPr lang="en-IL"/>
          </a:p>
        </p:txBody>
      </p:sp>
    </p:spTree>
    <p:extLst>
      <p:ext uri="{BB962C8B-B14F-4D97-AF65-F5344CB8AC3E}">
        <p14:creationId xmlns:p14="http://schemas.microsoft.com/office/powerpoint/2010/main" val="3836614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F9D6E-D779-7C7A-73F7-E23A70732B90}"/>
              </a:ext>
            </a:extLst>
          </p:cNvPr>
          <p:cNvSpPr>
            <a:spLocks noGrp="1"/>
          </p:cNvSpPr>
          <p:nvPr>
            <p:ph type="title"/>
          </p:nvPr>
        </p:nvSpPr>
        <p:spPr/>
        <p:txBody>
          <a:bodyPr/>
          <a:lstStyle/>
          <a:p>
            <a:r>
              <a:rPr lang="en-GB"/>
              <a:t>Click to edit Master title style</a:t>
            </a:r>
            <a:endParaRPr lang="en-IL"/>
          </a:p>
        </p:txBody>
      </p:sp>
      <p:sp>
        <p:nvSpPr>
          <p:cNvPr id="3" name="Content Placeholder 2">
            <a:extLst>
              <a:ext uri="{FF2B5EF4-FFF2-40B4-BE49-F238E27FC236}">
                <a16:creationId xmlns:a16="http://schemas.microsoft.com/office/drawing/2014/main" id="{9A34B347-9891-86B6-FAD7-F2D69F108D0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L"/>
          </a:p>
        </p:txBody>
      </p:sp>
      <p:sp>
        <p:nvSpPr>
          <p:cNvPr id="4" name="Date Placeholder 3">
            <a:extLst>
              <a:ext uri="{FF2B5EF4-FFF2-40B4-BE49-F238E27FC236}">
                <a16:creationId xmlns:a16="http://schemas.microsoft.com/office/drawing/2014/main" id="{DA574DD8-BF83-E752-AFE9-E2105F5867AC}"/>
              </a:ext>
            </a:extLst>
          </p:cNvPr>
          <p:cNvSpPr>
            <a:spLocks noGrp="1"/>
          </p:cNvSpPr>
          <p:nvPr>
            <p:ph type="dt" sz="half" idx="10"/>
          </p:nvPr>
        </p:nvSpPr>
        <p:spPr/>
        <p:txBody>
          <a:bodyPr/>
          <a:lstStyle/>
          <a:p>
            <a:fld id="{A1AD287F-ADF4-4BCB-986B-7AB40E6FCE1E}" type="datetimeFigureOut">
              <a:rPr lang="en-IL" smtClean="0"/>
              <a:t>11/10/2025</a:t>
            </a:fld>
            <a:endParaRPr lang="en-IL"/>
          </a:p>
        </p:txBody>
      </p:sp>
      <p:sp>
        <p:nvSpPr>
          <p:cNvPr id="5" name="Footer Placeholder 4">
            <a:extLst>
              <a:ext uri="{FF2B5EF4-FFF2-40B4-BE49-F238E27FC236}">
                <a16:creationId xmlns:a16="http://schemas.microsoft.com/office/drawing/2014/main" id="{85D02FB0-6BAD-0FA3-1AFC-A47CF3D07AD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FBBC7E5E-A60A-EAE8-4995-FE6433952676}"/>
              </a:ext>
            </a:extLst>
          </p:cNvPr>
          <p:cNvSpPr>
            <a:spLocks noGrp="1"/>
          </p:cNvSpPr>
          <p:nvPr>
            <p:ph type="sldNum" sz="quarter" idx="12"/>
          </p:nvPr>
        </p:nvSpPr>
        <p:spPr/>
        <p:txBody>
          <a:bodyPr/>
          <a:lstStyle/>
          <a:p>
            <a:fld id="{424BDED6-2C8D-460E-BEE7-26655AC382BD}" type="slidenum">
              <a:rPr lang="en-IL" smtClean="0"/>
              <a:t>‹#›</a:t>
            </a:fld>
            <a:endParaRPr lang="en-IL"/>
          </a:p>
        </p:txBody>
      </p:sp>
    </p:spTree>
    <p:extLst>
      <p:ext uri="{BB962C8B-B14F-4D97-AF65-F5344CB8AC3E}">
        <p14:creationId xmlns:p14="http://schemas.microsoft.com/office/powerpoint/2010/main" val="1974385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8CBC0-8D91-2462-2165-596E438C4CA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L"/>
          </a:p>
        </p:txBody>
      </p:sp>
      <p:sp>
        <p:nvSpPr>
          <p:cNvPr id="3" name="Text Placeholder 2">
            <a:extLst>
              <a:ext uri="{FF2B5EF4-FFF2-40B4-BE49-F238E27FC236}">
                <a16:creationId xmlns:a16="http://schemas.microsoft.com/office/drawing/2014/main" id="{910B75D0-F77B-7BC5-9D52-F6C4D61C31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B199996-D80D-1789-D471-9C95FB1842D3}"/>
              </a:ext>
            </a:extLst>
          </p:cNvPr>
          <p:cNvSpPr>
            <a:spLocks noGrp="1"/>
          </p:cNvSpPr>
          <p:nvPr>
            <p:ph type="dt" sz="half" idx="10"/>
          </p:nvPr>
        </p:nvSpPr>
        <p:spPr/>
        <p:txBody>
          <a:bodyPr/>
          <a:lstStyle/>
          <a:p>
            <a:fld id="{A1AD287F-ADF4-4BCB-986B-7AB40E6FCE1E}" type="datetimeFigureOut">
              <a:rPr lang="en-IL" smtClean="0"/>
              <a:t>11/10/2025</a:t>
            </a:fld>
            <a:endParaRPr lang="en-IL"/>
          </a:p>
        </p:txBody>
      </p:sp>
      <p:sp>
        <p:nvSpPr>
          <p:cNvPr id="5" name="Footer Placeholder 4">
            <a:extLst>
              <a:ext uri="{FF2B5EF4-FFF2-40B4-BE49-F238E27FC236}">
                <a16:creationId xmlns:a16="http://schemas.microsoft.com/office/drawing/2014/main" id="{1D639C58-4C2B-EDDF-F21B-8EB54B2A009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1A4EA4F-1500-CE9C-91D1-1B5868BA85F3}"/>
              </a:ext>
            </a:extLst>
          </p:cNvPr>
          <p:cNvSpPr>
            <a:spLocks noGrp="1"/>
          </p:cNvSpPr>
          <p:nvPr>
            <p:ph type="sldNum" sz="quarter" idx="12"/>
          </p:nvPr>
        </p:nvSpPr>
        <p:spPr/>
        <p:txBody>
          <a:bodyPr/>
          <a:lstStyle/>
          <a:p>
            <a:fld id="{424BDED6-2C8D-460E-BEE7-26655AC382BD}" type="slidenum">
              <a:rPr lang="en-IL" smtClean="0"/>
              <a:t>‹#›</a:t>
            </a:fld>
            <a:endParaRPr lang="en-IL"/>
          </a:p>
        </p:txBody>
      </p:sp>
    </p:spTree>
    <p:extLst>
      <p:ext uri="{BB962C8B-B14F-4D97-AF65-F5344CB8AC3E}">
        <p14:creationId xmlns:p14="http://schemas.microsoft.com/office/powerpoint/2010/main" val="401347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BECB9-1D21-1ADE-685D-2A79B595988A}"/>
              </a:ext>
            </a:extLst>
          </p:cNvPr>
          <p:cNvSpPr>
            <a:spLocks noGrp="1"/>
          </p:cNvSpPr>
          <p:nvPr>
            <p:ph type="title"/>
          </p:nvPr>
        </p:nvSpPr>
        <p:spPr/>
        <p:txBody>
          <a:bodyPr/>
          <a:lstStyle/>
          <a:p>
            <a:r>
              <a:rPr lang="en-GB"/>
              <a:t>Click to edit Master title style</a:t>
            </a:r>
            <a:endParaRPr lang="en-IL"/>
          </a:p>
        </p:txBody>
      </p:sp>
      <p:sp>
        <p:nvSpPr>
          <p:cNvPr id="3" name="Content Placeholder 2">
            <a:extLst>
              <a:ext uri="{FF2B5EF4-FFF2-40B4-BE49-F238E27FC236}">
                <a16:creationId xmlns:a16="http://schemas.microsoft.com/office/drawing/2014/main" id="{EC562FDE-FA85-9BDA-04F1-BE2315F8318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L"/>
          </a:p>
        </p:txBody>
      </p:sp>
      <p:sp>
        <p:nvSpPr>
          <p:cNvPr id="4" name="Content Placeholder 3">
            <a:extLst>
              <a:ext uri="{FF2B5EF4-FFF2-40B4-BE49-F238E27FC236}">
                <a16:creationId xmlns:a16="http://schemas.microsoft.com/office/drawing/2014/main" id="{3CE14E1B-1472-AEAC-C3A4-9D896F22E54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L"/>
          </a:p>
        </p:txBody>
      </p:sp>
      <p:sp>
        <p:nvSpPr>
          <p:cNvPr id="5" name="Date Placeholder 4">
            <a:extLst>
              <a:ext uri="{FF2B5EF4-FFF2-40B4-BE49-F238E27FC236}">
                <a16:creationId xmlns:a16="http://schemas.microsoft.com/office/drawing/2014/main" id="{216F10AB-52ED-FCE0-AABB-04AC4B66A438}"/>
              </a:ext>
            </a:extLst>
          </p:cNvPr>
          <p:cNvSpPr>
            <a:spLocks noGrp="1"/>
          </p:cNvSpPr>
          <p:nvPr>
            <p:ph type="dt" sz="half" idx="10"/>
          </p:nvPr>
        </p:nvSpPr>
        <p:spPr/>
        <p:txBody>
          <a:bodyPr/>
          <a:lstStyle/>
          <a:p>
            <a:fld id="{A1AD287F-ADF4-4BCB-986B-7AB40E6FCE1E}" type="datetimeFigureOut">
              <a:rPr lang="en-IL" smtClean="0"/>
              <a:t>11/10/2025</a:t>
            </a:fld>
            <a:endParaRPr lang="en-IL"/>
          </a:p>
        </p:txBody>
      </p:sp>
      <p:sp>
        <p:nvSpPr>
          <p:cNvPr id="6" name="Footer Placeholder 5">
            <a:extLst>
              <a:ext uri="{FF2B5EF4-FFF2-40B4-BE49-F238E27FC236}">
                <a16:creationId xmlns:a16="http://schemas.microsoft.com/office/drawing/2014/main" id="{E0C6C520-AF84-2F82-243E-EFBFFAEA2B2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2535676F-1876-BBDB-4975-B28689259138}"/>
              </a:ext>
            </a:extLst>
          </p:cNvPr>
          <p:cNvSpPr>
            <a:spLocks noGrp="1"/>
          </p:cNvSpPr>
          <p:nvPr>
            <p:ph type="sldNum" sz="quarter" idx="12"/>
          </p:nvPr>
        </p:nvSpPr>
        <p:spPr/>
        <p:txBody>
          <a:bodyPr/>
          <a:lstStyle/>
          <a:p>
            <a:fld id="{424BDED6-2C8D-460E-BEE7-26655AC382BD}" type="slidenum">
              <a:rPr lang="en-IL" smtClean="0"/>
              <a:t>‹#›</a:t>
            </a:fld>
            <a:endParaRPr lang="en-IL"/>
          </a:p>
        </p:txBody>
      </p:sp>
    </p:spTree>
    <p:extLst>
      <p:ext uri="{BB962C8B-B14F-4D97-AF65-F5344CB8AC3E}">
        <p14:creationId xmlns:p14="http://schemas.microsoft.com/office/powerpoint/2010/main" val="742572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0F65-F10A-FC0C-8E20-34351B1C1713}"/>
              </a:ext>
            </a:extLst>
          </p:cNvPr>
          <p:cNvSpPr>
            <a:spLocks noGrp="1"/>
          </p:cNvSpPr>
          <p:nvPr>
            <p:ph type="title"/>
          </p:nvPr>
        </p:nvSpPr>
        <p:spPr>
          <a:xfrm>
            <a:off x="839788" y="365125"/>
            <a:ext cx="10515600" cy="1325563"/>
          </a:xfrm>
        </p:spPr>
        <p:txBody>
          <a:bodyPr/>
          <a:lstStyle/>
          <a:p>
            <a:r>
              <a:rPr lang="en-GB"/>
              <a:t>Click to edit Master title style</a:t>
            </a:r>
            <a:endParaRPr lang="en-IL"/>
          </a:p>
        </p:txBody>
      </p:sp>
      <p:sp>
        <p:nvSpPr>
          <p:cNvPr id="3" name="Text Placeholder 2">
            <a:extLst>
              <a:ext uri="{FF2B5EF4-FFF2-40B4-BE49-F238E27FC236}">
                <a16:creationId xmlns:a16="http://schemas.microsoft.com/office/drawing/2014/main" id="{0C834B3C-1987-A5A5-B1AE-9F6357ADBD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5917E8-9BE4-DE42-34E0-6E021484FA5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L"/>
          </a:p>
        </p:txBody>
      </p:sp>
      <p:sp>
        <p:nvSpPr>
          <p:cNvPr id="5" name="Text Placeholder 4">
            <a:extLst>
              <a:ext uri="{FF2B5EF4-FFF2-40B4-BE49-F238E27FC236}">
                <a16:creationId xmlns:a16="http://schemas.microsoft.com/office/drawing/2014/main" id="{A7A9CE87-66FB-1582-C689-12C068CF8B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30C3EA5-9E77-22FA-F45D-F4C1BBCCF9C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L"/>
          </a:p>
        </p:txBody>
      </p:sp>
      <p:sp>
        <p:nvSpPr>
          <p:cNvPr id="7" name="Date Placeholder 6">
            <a:extLst>
              <a:ext uri="{FF2B5EF4-FFF2-40B4-BE49-F238E27FC236}">
                <a16:creationId xmlns:a16="http://schemas.microsoft.com/office/drawing/2014/main" id="{9B805263-7D69-8832-8CF3-CEBF18A84B10}"/>
              </a:ext>
            </a:extLst>
          </p:cNvPr>
          <p:cNvSpPr>
            <a:spLocks noGrp="1"/>
          </p:cNvSpPr>
          <p:nvPr>
            <p:ph type="dt" sz="half" idx="10"/>
          </p:nvPr>
        </p:nvSpPr>
        <p:spPr/>
        <p:txBody>
          <a:bodyPr/>
          <a:lstStyle/>
          <a:p>
            <a:fld id="{A1AD287F-ADF4-4BCB-986B-7AB40E6FCE1E}" type="datetimeFigureOut">
              <a:rPr lang="en-IL" smtClean="0"/>
              <a:t>11/10/2025</a:t>
            </a:fld>
            <a:endParaRPr lang="en-IL"/>
          </a:p>
        </p:txBody>
      </p:sp>
      <p:sp>
        <p:nvSpPr>
          <p:cNvPr id="8" name="Footer Placeholder 7">
            <a:extLst>
              <a:ext uri="{FF2B5EF4-FFF2-40B4-BE49-F238E27FC236}">
                <a16:creationId xmlns:a16="http://schemas.microsoft.com/office/drawing/2014/main" id="{DE003741-0018-C848-4EE7-F45D6C3F0DE5}"/>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0580260E-839D-77E4-4506-D3F147143115}"/>
              </a:ext>
            </a:extLst>
          </p:cNvPr>
          <p:cNvSpPr>
            <a:spLocks noGrp="1"/>
          </p:cNvSpPr>
          <p:nvPr>
            <p:ph type="sldNum" sz="quarter" idx="12"/>
          </p:nvPr>
        </p:nvSpPr>
        <p:spPr/>
        <p:txBody>
          <a:bodyPr/>
          <a:lstStyle/>
          <a:p>
            <a:fld id="{424BDED6-2C8D-460E-BEE7-26655AC382BD}" type="slidenum">
              <a:rPr lang="en-IL" smtClean="0"/>
              <a:t>‹#›</a:t>
            </a:fld>
            <a:endParaRPr lang="en-IL"/>
          </a:p>
        </p:txBody>
      </p:sp>
    </p:spTree>
    <p:extLst>
      <p:ext uri="{BB962C8B-B14F-4D97-AF65-F5344CB8AC3E}">
        <p14:creationId xmlns:p14="http://schemas.microsoft.com/office/powerpoint/2010/main" val="3633929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18BCE-273D-50EE-96A8-3B368A49F11F}"/>
              </a:ext>
            </a:extLst>
          </p:cNvPr>
          <p:cNvSpPr>
            <a:spLocks noGrp="1"/>
          </p:cNvSpPr>
          <p:nvPr>
            <p:ph type="title"/>
          </p:nvPr>
        </p:nvSpPr>
        <p:spPr/>
        <p:txBody>
          <a:bodyPr/>
          <a:lstStyle/>
          <a:p>
            <a:r>
              <a:rPr lang="en-GB"/>
              <a:t>Click to edit Master title style</a:t>
            </a:r>
            <a:endParaRPr lang="en-IL"/>
          </a:p>
        </p:txBody>
      </p:sp>
      <p:sp>
        <p:nvSpPr>
          <p:cNvPr id="3" name="Date Placeholder 2">
            <a:extLst>
              <a:ext uri="{FF2B5EF4-FFF2-40B4-BE49-F238E27FC236}">
                <a16:creationId xmlns:a16="http://schemas.microsoft.com/office/drawing/2014/main" id="{7B9A0C5B-D946-702B-24D5-A70777F3016F}"/>
              </a:ext>
            </a:extLst>
          </p:cNvPr>
          <p:cNvSpPr>
            <a:spLocks noGrp="1"/>
          </p:cNvSpPr>
          <p:nvPr>
            <p:ph type="dt" sz="half" idx="10"/>
          </p:nvPr>
        </p:nvSpPr>
        <p:spPr/>
        <p:txBody>
          <a:bodyPr/>
          <a:lstStyle/>
          <a:p>
            <a:fld id="{A1AD287F-ADF4-4BCB-986B-7AB40E6FCE1E}" type="datetimeFigureOut">
              <a:rPr lang="en-IL" smtClean="0"/>
              <a:t>11/10/2025</a:t>
            </a:fld>
            <a:endParaRPr lang="en-IL"/>
          </a:p>
        </p:txBody>
      </p:sp>
      <p:sp>
        <p:nvSpPr>
          <p:cNvPr id="4" name="Footer Placeholder 3">
            <a:extLst>
              <a:ext uri="{FF2B5EF4-FFF2-40B4-BE49-F238E27FC236}">
                <a16:creationId xmlns:a16="http://schemas.microsoft.com/office/drawing/2014/main" id="{8866F95D-E7F5-C939-45D5-B5D307A40FC6}"/>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748A727D-FE55-EA0D-12C5-E569D5BEC8CC}"/>
              </a:ext>
            </a:extLst>
          </p:cNvPr>
          <p:cNvSpPr>
            <a:spLocks noGrp="1"/>
          </p:cNvSpPr>
          <p:nvPr>
            <p:ph type="sldNum" sz="quarter" idx="12"/>
          </p:nvPr>
        </p:nvSpPr>
        <p:spPr/>
        <p:txBody>
          <a:bodyPr/>
          <a:lstStyle/>
          <a:p>
            <a:fld id="{424BDED6-2C8D-460E-BEE7-26655AC382BD}" type="slidenum">
              <a:rPr lang="en-IL" smtClean="0"/>
              <a:t>‹#›</a:t>
            </a:fld>
            <a:endParaRPr lang="en-IL"/>
          </a:p>
        </p:txBody>
      </p:sp>
    </p:spTree>
    <p:extLst>
      <p:ext uri="{BB962C8B-B14F-4D97-AF65-F5344CB8AC3E}">
        <p14:creationId xmlns:p14="http://schemas.microsoft.com/office/powerpoint/2010/main" val="3276941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3DD00D-B8E6-9E51-FFB6-F0892A59441C}"/>
              </a:ext>
            </a:extLst>
          </p:cNvPr>
          <p:cNvSpPr>
            <a:spLocks noGrp="1"/>
          </p:cNvSpPr>
          <p:nvPr>
            <p:ph type="dt" sz="half" idx="10"/>
          </p:nvPr>
        </p:nvSpPr>
        <p:spPr/>
        <p:txBody>
          <a:bodyPr/>
          <a:lstStyle/>
          <a:p>
            <a:fld id="{A1AD287F-ADF4-4BCB-986B-7AB40E6FCE1E}" type="datetimeFigureOut">
              <a:rPr lang="en-IL" smtClean="0"/>
              <a:t>11/10/2025</a:t>
            </a:fld>
            <a:endParaRPr lang="en-IL"/>
          </a:p>
        </p:txBody>
      </p:sp>
      <p:sp>
        <p:nvSpPr>
          <p:cNvPr id="3" name="Footer Placeholder 2">
            <a:extLst>
              <a:ext uri="{FF2B5EF4-FFF2-40B4-BE49-F238E27FC236}">
                <a16:creationId xmlns:a16="http://schemas.microsoft.com/office/drawing/2014/main" id="{CBC44D36-27B4-9F2C-44EF-5B7D17A069CA}"/>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B0176E40-D98F-4C97-999C-C5127B3FFAE8}"/>
              </a:ext>
            </a:extLst>
          </p:cNvPr>
          <p:cNvSpPr>
            <a:spLocks noGrp="1"/>
          </p:cNvSpPr>
          <p:nvPr>
            <p:ph type="sldNum" sz="quarter" idx="12"/>
          </p:nvPr>
        </p:nvSpPr>
        <p:spPr/>
        <p:txBody>
          <a:bodyPr/>
          <a:lstStyle/>
          <a:p>
            <a:fld id="{424BDED6-2C8D-460E-BEE7-26655AC382BD}" type="slidenum">
              <a:rPr lang="en-IL" smtClean="0"/>
              <a:t>‹#›</a:t>
            </a:fld>
            <a:endParaRPr lang="en-IL"/>
          </a:p>
        </p:txBody>
      </p:sp>
    </p:spTree>
    <p:extLst>
      <p:ext uri="{BB962C8B-B14F-4D97-AF65-F5344CB8AC3E}">
        <p14:creationId xmlns:p14="http://schemas.microsoft.com/office/powerpoint/2010/main" val="458435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F1CC-08B3-4394-ADEA-3190FEF4844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L"/>
          </a:p>
        </p:txBody>
      </p:sp>
      <p:sp>
        <p:nvSpPr>
          <p:cNvPr id="3" name="Content Placeholder 2">
            <a:extLst>
              <a:ext uri="{FF2B5EF4-FFF2-40B4-BE49-F238E27FC236}">
                <a16:creationId xmlns:a16="http://schemas.microsoft.com/office/drawing/2014/main" id="{2CF3EECA-BE62-E490-4321-07B7B5B032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L"/>
          </a:p>
        </p:txBody>
      </p:sp>
      <p:sp>
        <p:nvSpPr>
          <p:cNvPr id="4" name="Text Placeholder 3">
            <a:extLst>
              <a:ext uri="{FF2B5EF4-FFF2-40B4-BE49-F238E27FC236}">
                <a16:creationId xmlns:a16="http://schemas.microsoft.com/office/drawing/2014/main" id="{7DE3E4FC-666A-8533-08E1-4EB1136BED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7C42B74-13C3-6B8A-DD7C-1CC0203C517D}"/>
              </a:ext>
            </a:extLst>
          </p:cNvPr>
          <p:cNvSpPr>
            <a:spLocks noGrp="1"/>
          </p:cNvSpPr>
          <p:nvPr>
            <p:ph type="dt" sz="half" idx="10"/>
          </p:nvPr>
        </p:nvSpPr>
        <p:spPr/>
        <p:txBody>
          <a:bodyPr/>
          <a:lstStyle/>
          <a:p>
            <a:fld id="{A1AD287F-ADF4-4BCB-986B-7AB40E6FCE1E}" type="datetimeFigureOut">
              <a:rPr lang="en-IL" smtClean="0"/>
              <a:t>11/10/2025</a:t>
            </a:fld>
            <a:endParaRPr lang="en-IL"/>
          </a:p>
        </p:txBody>
      </p:sp>
      <p:sp>
        <p:nvSpPr>
          <p:cNvPr id="6" name="Footer Placeholder 5">
            <a:extLst>
              <a:ext uri="{FF2B5EF4-FFF2-40B4-BE49-F238E27FC236}">
                <a16:creationId xmlns:a16="http://schemas.microsoft.com/office/drawing/2014/main" id="{FDCF8919-311B-2F25-86D4-1D39D8DA4E3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67FAEA8F-4F49-F33D-9DE9-77F8B81E25A1}"/>
              </a:ext>
            </a:extLst>
          </p:cNvPr>
          <p:cNvSpPr>
            <a:spLocks noGrp="1"/>
          </p:cNvSpPr>
          <p:nvPr>
            <p:ph type="sldNum" sz="quarter" idx="12"/>
          </p:nvPr>
        </p:nvSpPr>
        <p:spPr/>
        <p:txBody>
          <a:bodyPr/>
          <a:lstStyle/>
          <a:p>
            <a:fld id="{424BDED6-2C8D-460E-BEE7-26655AC382BD}" type="slidenum">
              <a:rPr lang="en-IL" smtClean="0"/>
              <a:t>‹#›</a:t>
            </a:fld>
            <a:endParaRPr lang="en-IL"/>
          </a:p>
        </p:txBody>
      </p:sp>
    </p:spTree>
    <p:extLst>
      <p:ext uri="{BB962C8B-B14F-4D97-AF65-F5344CB8AC3E}">
        <p14:creationId xmlns:p14="http://schemas.microsoft.com/office/powerpoint/2010/main" val="424744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5899-5073-4E82-60AA-00F92DA518C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L"/>
          </a:p>
        </p:txBody>
      </p:sp>
      <p:sp>
        <p:nvSpPr>
          <p:cNvPr id="3" name="Picture Placeholder 2">
            <a:extLst>
              <a:ext uri="{FF2B5EF4-FFF2-40B4-BE49-F238E27FC236}">
                <a16:creationId xmlns:a16="http://schemas.microsoft.com/office/drawing/2014/main" id="{B57E9CA7-2B05-DD6D-F27B-3FBC677C8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6B5FE500-76EC-EB09-84D0-D676799345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84D5200-6CED-A850-7EAC-C4D7E4600476}"/>
              </a:ext>
            </a:extLst>
          </p:cNvPr>
          <p:cNvSpPr>
            <a:spLocks noGrp="1"/>
          </p:cNvSpPr>
          <p:nvPr>
            <p:ph type="dt" sz="half" idx="10"/>
          </p:nvPr>
        </p:nvSpPr>
        <p:spPr/>
        <p:txBody>
          <a:bodyPr/>
          <a:lstStyle/>
          <a:p>
            <a:fld id="{A1AD287F-ADF4-4BCB-986B-7AB40E6FCE1E}" type="datetimeFigureOut">
              <a:rPr lang="en-IL" smtClean="0"/>
              <a:t>11/10/2025</a:t>
            </a:fld>
            <a:endParaRPr lang="en-IL"/>
          </a:p>
        </p:txBody>
      </p:sp>
      <p:sp>
        <p:nvSpPr>
          <p:cNvPr id="6" name="Footer Placeholder 5">
            <a:extLst>
              <a:ext uri="{FF2B5EF4-FFF2-40B4-BE49-F238E27FC236}">
                <a16:creationId xmlns:a16="http://schemas.microsoft.com/office/drawing/2014/main" id="{79E8A438-715C-ADC6-84F4-911745286BD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E665325-2314-D8F4-2FFB-367D2B541BF3}"/>
              </a:ext>
            </a:extLst>
          </p:cNvPr>
          <p:cNvSpPr>
            <a:spLocks noGrp="1"/>
          </p:cNvSpPr>
          <p:nvPr>
            <p:ph type="sldNum" sz="quarter" idx="12"/>
          </p:nvPr>
        </p:nvSpPr>
        <p:spPr/>
        <p:txBody>
          <a:bodyPr/>
          <a:lstStyle/>
          <a:p>
            <a:fld id="{424BDED6-2C8D-460E-BEE7-26655AC382BD}" type="slidenum">
              <a:rPr lang="en-IL" smtClean="0"/>
              <a:t>‹#›</a:t>
            </a:fld>
            <a:endParaRPr lang="en-IL"/>
          </a:p>
        </p:txBody>
      </p:sp>
    </p:spTree>
    <p:extLst>
      <p:ext uri="{BB962C8B-B14F-4D97-AF65-F5344CB8AC3E}">
        <p14:creationId xmlns:p14="http://schemas.microsoft.com/office/powerpoint/2010/main" val="3345304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D5126-66BF-A31D-8634-26FA35B668DB}"/>
              </a:ext>
            </a:extLst>
          </p:cNvPr>
          <p:cNvSpPr>
            <a:spLocks noGrp="1"/>
          </p:cNvSpPr>
          <p:nvPr>
            <p:ph type="title"/>
          </p:nvPr>
        </p:nvSpPr>
        <p:spPr/>
        <p:txBody>
          <a:bodyPr/>
          <a:lstStyle/>
          <a:p>
            <a:r>
              <a:rPr lang="en-GB"/>
              <a:t>Click to edit Master title style</a:t>
            </a:r>
            <a:endParaRPr lang="en-IL"/>
          </a:p>
        </p:txBody>
      </p:sp>
      <p:sp>
        <p:nvSpPr>
          <p:cNvPr id="3" name="Vertical Text Placeholder 2">
            <a:extLst>
              <a:ext uri="{FF2B5EF4-FFF2-40B4-BE49-F238E27FC236}">
                <a16:creationId xmlns:a16="http://schemas.microsoft.com/office/drawing/2014/main" id="{543E1780-8EC1-0572-6723-26BA9AC9C2C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L"/>
          </a:p>
        </p:txBody>
      </p:sp>
      <p:sp>
        <p:nvSpPr>
          <p:cNvPr id="4" name="Date Placeholder 3">
            <a:extLst>
              <a:ext uri="{FF2B5EF4-FFF2-40B4-BE49-F238E27FC236}">
                <a16:creationId xmlns:a16="http://schemas.microsoft.com/office/drawing/2014/main" id="{9BC4405A-B333-3C62-8460-FA0AE7D0F465}"/>
              </a:ext>
            </a:extLst>
          </p:cNvPr>
          <p:cNvSpPr>
            <a:spLocks noGrp="1"/>
          </p:cNvSpPr>
          <p:nvPr>
            <p:ph type="dt" sz="half" idx="10"/>
          </p:nvPr>
        </p:nvSpPr>
        <p:spPr/>
        <p:txBody>
          <a:bodyPr/>
          <a:lstStyle/>
          <a:p>
            <a:fld id="{A1AD287F-ADF4-4BCB-986B-7AB40E6FCE1E}" type="datetimeFigureOut">
              <a:rPr lang="en-IL" smtClean="0"/>
              <a:t>11/10/2025</a:t>
            </a:fld>
            <a:endParaRPr lang="en-IL"/>
          </a:p>
        </p:txBody>
      </p:sp>
      <p:sp>
        <p:nvSpPr>
          <p:cNvPr id="5" name="Footer Placeholder 4">
            <a:extLst>
              <a:ext uri="{FF2B5EF4-FFF2-40B4-BE49-F238E27FC236}">
                <a16:creationId xmlns:a16="http://schemas.microsoft.com/office/drawing/2014/main" id="{941DD890-C2A6-2887-E94A-2CFC2698ADA9}"/>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DB99C488-2E64-D13C-94F7-5C0B12CECBBC}"/>
              </a:ext>
            </a:extLst>
          </p:cNvPr>
          <p:cNvSpPr>
            <a:spLocks noGrp="1"/>
          </p:cNvSpPr>
          <p:nvPr>
            <p:ph type="sldNum" sz="quarter" idx="12"/>
          </p:nvPr>
        </p:nvSpPr>
        <p:spPr/>
        <p:txBody>
          <a:bodyPr/>
          <a:lstStyle/>
          <a:p>
            <a:fld id="{424BDED6-2C8D-460E-BEE7-26655AC382BD}" type="slidenum">
              <a:rPr lang="en-IL" smtClean="0"/>
              <a:t>‹#›</a:t>
            </a:fld>
            <a:endParaRPr lang="en-IL"/>
          </a:p>
        </p:txBody>
      </p:sp>
    </p:spTree>
    <p:extLst>
      <p:ext uri="{BB962C8B-B14F-4D97-AF65-F5344CB8AC3E}">
        <p14:creationId xmlns:p14="http://schemas.microsoft.com/office/powerpoint/2010/main" val="3539661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4153BD-C28F-E3C3-E52A-5A14692B83E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L"/>
          </a:p>
        </p:txBody>
      </p:sp>
      <p:sp>
        <p:nvSpPr>
          <p:cNvPr id="3" name="Vertical Text Placeholder 2">
            <a:extLst>
              <a:ext uri="{FF2B5EF4-FFF2-40B4-BE49-F238E27FC236}">
                <a16:creationId xmlns:a16="http://schemas.microsoft.com/office/drawing/2014/main" id="{86F9C341-1C33-CAE9-DFBE-F4DECD529CB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L"/>
          </a:p>
        </p:txBody>
      </p:sp>
      <p:sp>
        <p:nvSpPr>
          <p:cNvPr id="4" name="Date Placeholder 3">
            <a:extLst>
              <a:ext uri="{FF2B5EF4-FFF2-40B4-BE49-F238E27FC236}">
                <a16:creationId xmlns:a16="http://schemas.microsoft.com/office/drawing/2014/main" id="{111E5CF6-81F9-64FA-9E3C-9F7CEE3DBADB}"/>
              </a:ext>
            </a:extLst>
          </p:cNvPr>
          <p:cNvSpPr>
            <a:spLocks noGrp="1"/>
          </p:cNvSpPr>
          <p:nvPr>
            <p:ph type="dt" sz="half" idx="10"/>
          </p:nvPr>
        </p:nvSpPr>
        <p:spPr/>
        <p:txBody>
          <a:bodyPr/>
          <a:lstStyle/>
          <a:p>
            <a:fld id="{A1AD287F-ADF4-4BCB-986B-7AB40E6FCE1E}" type="datetimeFigureOut">
              <a:rPr lang="en-IL" smtClean="0"/>
              <a:t>11/10/2025</a:t>
            </a:fld>
            <a:endParaRPr lang="en-IL"/>
          </a:p>
        </p:txBody>
      </p:sp>
      <p:sp>
        <p:nvSpPr>
          <p:cNvPr id="5" name="Footer Placeholder 4">
            <a:extLst>
              <a:ext uri="{FF2B5EF4-FFF2-40B4-BE49-F238E27FC236}">
                <a16:creationId xmlns:a16="http://schemas.microsoft.com/office/drawing/2014/main" id="{4BCD3DD5-5434-3E72-3CA9-6AD319EBE25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F79FA10B-47D1-5452-88B9-1E3D6E960650}"/>
              </a:ext>
            </a:extLst>
          </p:cNvPr>
          <p:cNvSpPr>
            <a:spLocks noGrp="1"/>
          </p:cNvSpPr>
          <p:nvPr>
            <p:ph type="sldNum" sz="quarter" idx="12"/>
          </p:nvPr>
        </p:nvSpPr>
        <p:spPr/>
        <p:txBody>
          <a:bodyPr/>
          <a:lstStyle/>
          <a:p>
            <a:fld id="{424BDED6-2C8D-460E-BEE7-26655AC382BD}" type="slidenum">
              <a:rPr lang="en-IL" smtClean="0"/>
              <a:t>‹#›</a:t>
            </a:fld>
            <a:endParaRPr lang="en-IL"/>
          </a:p>
        </p:txBody>
      </p:sp>
    </p:spTree>
    <p:extLst>
      <p:ext uri="{BB962C8B-B14F-4D97-AF65-F5344CB8AC3E}">
        <p14:creationId xmlns:p14="http://schemas.microsoft.com/office/powerpoint/2010/main" val="1362067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DBFF91-C4C3-919A-0615-78E69AB13F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L"/>
          </a:p>
        </p:txBody>
      </p:sp>
      <p:sp>
        <p:nvSpPr>
          <p:cNvPr id="3" name="Text Placeholder 2">
            <a:extLst>
              <a:ext uri="{FF2B5EF4-FFF2-40B4-BE49-F238E27FC236}">
                <a16:creationId xmlns:a16="http://schemas.microsoft.com/office/drawing/2014/main" id="{32D155B6-D024-9AE7-9BEB-8F357A3264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L"/>
          </a:p>
        </p:txBody>
      </p:sp>
      <p:sp>
        <p:nvSpPr>
          <p:cNvPr id="4" name="Date Placeholder 3">
            <a:extLst>
              <a:ext uri="{FF2B5EF4-FFF2-40B4-BE49-F238E27FC236}">
                <a16:creationId xmlns:a16="http://schemas.microsoft.com/office/drawing/2014/main" id="{B92EEEA6-B477-99E0-ACAD-459D0F05C6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AD287F-ADF4-4BCB-986B-7AB40E6FCE1E}" type="datetimeFigureOut">
              <a:rPr lang="en-IL" smtClean="0"/>
              <a:t>11/10/2025</a:t>
            </a:fld>
            <a:endParaRPr lang="en-IL"/>
          </a:p>
        </p:txBody>
      </p:sp>
      <p:sp>
        <p:nvSpPr>
          <p:cNvPr id="5" name="Footer Placeholder 4">
            <a:extLst>
              <a:ext uri="{FF2B5EF4-FFF2-40B4-BE49-F238E27FC236}">
                <a16:creationId xmlns:a16="http://schemas.microsoft.com/office/drawing/2014/main" id="{4611ABA8-6C67-6803-BE3B-3860A91E3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FDD0297A-89A9-9FA2-260A-AF53594556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BDED6-2C8D-460E-BEE7-26655AC382BD}" type="slidenum">
              <a:rPr lang="en-IL" smtClean="0"/>
              <a:t>‹#›</a:t>
            </a:fld>
            <a:endParaRPr lang="en-IL"/>
          </a:p>
        </p:txBody>
      </p:sp>
    </p:spTree>
    <p:extLst>
      <p:ext uri="{BB962C8B-B14F-4D97-AF65-F5344CB8AC3E}">
        <p14:creationId xmlns:p14="http://schemas.microsoft.com/office/powerpoint/2010/main" val="2961799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image" Target="../media/image4.png"/><Relationship Id="rId4" Type="http://schemas.openxmlformats.org/officeDocument/2006/relationships/diagramLayout" Target="../diagrams/layout2.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7EB4B0B-57CE-9AFC-D9FE-BB70DEDA914C}"/>
              </a:ext>
            </a:extLst>
          </p:cNvPr>
          <p:cNvSpPr>
            <a:spLocks noGrp="1"/>
          </p:cNvSpPr>
          <p:nvPr>
            <p:ph type="subTitle" idx="1"/>
          </p:nvPr>
        </p:nvSpPr>
        <p:spPr>
          <a:xfrm>
            <a:off x="1524000" y="2357438"/>
            <a:ext cx="9144000" cy="3706812"/>
          </a:xfrm>
          <a:ln>
            <a:solidFill>
              <a:schemeClr val="tx1"/>
            </a:solidFill>
          </a:ln>
        </p:spPr>
        <p:txBody>
          <a:bodyPr>
            <a:noAutofit/>
          </a:bodyPr>
          <a:lstStyle/>
          <a:p>
            <a:endParaRPr lang="en-US" sz="3200" b="1" dirty="0"/>
          </a:p>
          <a:p>
            <a:r>
              <a:rPr lang="en-US" sz="3200" b="1" dirty="0"/>
              <a:t>Implementation of </a:t>
            </a:r>
            <a:r>
              <a:rPr lang="en-US" sz="3200" b="1" dirty="0">
                <a:solidFill>
                  <a:srgbClr val="2E346E"/>
                </a:solidFill>
              </a:rPr>
              <a:t>RISC</a:t>
            </a:r>
            <a:r>
              <a:rPr lang="en-US" sz="3200" b="1" dirty="0">
                <a:solidFill>
                  <a:srgbClr val="E5B445"/>
                </a:solidFill>
              </a:rPr>
              <a:t>-V</a:t>
            </a:r>
            <a:r>
              <a:rPr lang="en-US" sz="3200" b="1" dirty="0"/>
              <a:t> Processor</a:t>
            </a:r>
          </a:p>
          <a:p>
            <a:endParaRPr lang="en-US" sz="1900" b="1" dirty="0"/>
          </a:p>
          <a:p>
            <a:endParaRPr lang="en-US" sz="1900" b="1" dirty="0"/>
          </a:p>
          <a:p>
            <a:r>
              <a:rPr lang="en-US" sz="2000" dirty="0"/>
              <a:t>Yuval Salti – 318597945</a:t>
            </a:r>
          </a:p>
          <a:p>
            <a:r>
              <a:rPr lang="en-US" sz="2000" dirty="0"/>
              <a:t>Maor Elbaz – 208418293</a:t>
            </a:r>
          </a:p>
          <a:p>
            <a:endParaRPr lang="en-US" sz="2000" dirty="0"/>
          </a:p>
          <a:p>
            <a:r>
              <a:rPr lang="en-US" sz="2000" dirty="0"/>
              <a:t>Supervisor: Dr. Avihai Aharon</a:t>
            </a:r>
            <a:endParaRPr lang="en-IL" sz="2000" dirty="0"/>
          </a:p>
        </p:txBody>
      </p:sp>
      <p:pic>
        <p:nvPicPr>
          <p:cNvPr id="1026" name="Picture 2">
            <a:extLst>
              <a:ext uri="{FF2B5EF4-FFF2-40B4-BE49-F238E27FC236}">
                <a16:creationId xmlns:a16="http://schemas.microsoft.com/office/drawing/2014/main" id="{486EED8C-9642-8B41-905B-9F4E850799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2792" y="181372"/>
            <a:ext cx="2486416" cy="1607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7386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A52AA-390F-89E5-BDB0-507A26B8C5A2}"/>
              </a:ext>
            </a:extLst>
          </p:cNvPr>
          <p:cNvSpPr>
            <a:spLocks noGrp="1"/>
          </p:cNvSpPr>
          <p:nvPr>
            <p:ph type="title"/>
          </p:nvPr>
        </p:nvSpPr>
        <p:spPr/>
        <p:txBody>
          <a:bodyPr>
            <a:normAutofit/>
          </a:bodyPr>
          <a:lstStyle/>
          <a:p>
            <a:pPr algn="ctr"/>
            <a:r>
              <a:rPr lang="en-US" b="1" dirty="0">
                <a:solidFill>
                  <a:srgbClr val="2E346E"/>
                </a:solidFill>
              </a:rPr>
              <a:t>Project G</a:t>
            </a:r>
            <a:r>
              <a:rPr lang="en-US" b="1" dirty="0">
                <a:solidFill>
                  <a:srgbClr val="E5B445"/>
                </a:solidFill>
              </a:rPr>
              <a:t>oals</a:t>
            </a:r>
            <a:endParaRPr lang="en-IL" b="1" dirty="0">
              <a:solidFill>
                <a:srgbClr val="E5B445"/>
              </a:solidFill>
            </a:endParaRPr>
          </a:p>
        </p:txBody>
      </p:sp>
      <p:sp>
        <p:nvSpPr>
          <p:cNvPr id="3" name="Content Placeholder 2">
            <a:extLst>
              <a:ext uri="{FF2B5EF4-FFF2-40B4-BE49-F238E27FC236}">
                <a16:creationId xmlns:a16="http://schemas.microsoft.com/office/drawing/2014/main" id="{4793A7C3-580F-0B90-143A-74F06D822878}"/>
              </a:ext>
            </a:extLst>
          </p:cNvPr>
          <p:cNvSpPr>
            <a:spLocks noGrp="1"/>
          </p:cNvSpPr>
          <p:nvPr>
            <p:ph idx="1"/>
          </p:nvPr>
        </p:nvSpPr>
        <p:spPr/>
        <p:txBody>
          <a:bodyPr>
            <a:normAutofit/>
          </a:bodyPr>
          <a:lstStyle/>
          <a:p>
            <a:pPr marL="0" indent="0">
              <a:buNone/>
            </a:pPr>
            <a:r>
              <a:rPr lang="en-US" sz="2000" b="1" dirty="0"/>
              <a:t>Objective:</a:t>
            </a:r>
          </a:p>
          <a:p>
            <a:pPr marL="0" indent="0">
              <a:buNone/>
            </a:pPr>
            <a:r>
              <a:rPr lang="en-US" sz="2000" dirty="0"/>
              <a:t>To design and implement the RISC-V Processor and to explore various methods in order to determine the best performance and most reliability.</a:t>
            </a:r>
          </a:p>
          <a:p>
            <a:pPr marL="0" indent="0">
              <a:buNone/>
            </a:pPr>
            <a:endParaRPr lang="en-US" sz="2000" dirty="0"/>
          </a:p>
          <a:p>
            <a:pPr marL="0" indent="0">
              <a:buNone/>
            </a:pPr>
            <a:endParaRPr lang="en-US" sz="2000" dirty="0"/>
          </a:p>
          <a:p>
            <a:pPr marL="0" indent="0">
              <a:buNone/>
            </a:pPr>
            <a:r>
              <a:rPr lang="en-US" sz="2000" b="1" dirty="0"/>
              <a:t>The project includes:</a:t>
            </a:r>
          </a:p>
          <a:p>
            <a:r>
              <a:rPr lang="en-US" sz="2000" dirty="0"/>
              <a:t>Softcore processor on Artix-7 FPGA.</a:t>
            </a:r>
          </a:p>
          <a:p>
            <a:r>
              <a:rPr lang="en-US" sz="2000" dirty="0"/>
              <a:t>Assembly programs that runs on the softcore.</a:t>
            </a:r>
          </a:p>
          <a:p>
            <a:r>
              <a:rPr lang="en-US" sz="2000" dirty="0"/>
              <a:t>Support for RV32I and RV32M extension.</a:t>
            </a:r>
            <a:endParaRPr lang="en-IL" sz="2000" dirty="0"/>
          </a:p>
        </p:txBody>
      </p:sp>
    </p:spTree>
    <p:extLst>
      <p:ext uri="{BB962C8B-B14F-4D97-AF65-F5344CB8AC3E}">
        <p14:creationId xmlns:p14="http://schemas.microsoft.com/office/powerpoint/2010/main" val="956202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E2786-E150-616A-6E17-A2DAD0FC4FE9}"/>
              </a:ext>
            </a:extLst>
          </p:cNvPr>
          <p:cNvSpPr>
            <a:spLocks noGrp="1"/>
          </p:cNvSpPr>
          <p:nvPr>
            <p:ph type="title"/>
          </p:nvPr>
        </p:nvSpPr>
        <p:spPr/>
        <p:txBody>
          <a:bodyPr/>
          <a:lstStyle/>
          <a:p>
            <a:pPr algn="ctr"/>
            <a:r>
              <a:rPr lang="en-US" b="1" dirty="0">
                <a:solidFill>
                  <a:srgbClr val="2E346E"/>
                </a:solidFill>
              </a:rPr>
              <a:t>Theoretical Back</a:t>
            </a:r>
            <a:r>
              <a:rPr lang="en-US" b="1" dirty="0">
                <a:solidFill>
                  <a:srgbClr val="E5B445"/>
                </a:solidFill>
              </a:rPr>
              <a:t>ground</a:t>
            </a:r>
            <a:endParaRPr lang="en-IL" b="1" dirty="0">
              <a:solidFill>
                <a:srgbClr val="E5B445"/>
              </a:solidFill>
            </a:endParaRPr>
          </a:p>
        </p:txBody>
      </p:sp>
      <p:graphicFrame>
        <p:nvGraphicFramePr>
          <p:cNvPr id="4" name="Content Placeholder 3">
            <a:extLst>
              <a:ext uri="{FF2B5EF4-FFF2-40B4-BE49-F238E27FC236}">
                <a16:creationId xmlns:a16="http://schemas.microsoft.com/office/drawing/2014/main" id="{0C0FB4AB-474D-B226-49F9-11EF50880D9A}"/>
              </a:ext>
            </a:extLst>
          </p:cNvPr>
          <p:cNvGraphicFramePr>
            <a:graphicFrameLocks noGrp="1"/>
          </p:cNvGraphicFramePr>
          <p:nvPr>
            <p:ph idx="1"/>
            <p:extLst>
              <p:ext uri="{D42A27DB-BD31-4B8C-83A1-F6EECF244321}">
                <p14:modId xmlns:p14="http://schemas.microsoft.com/office/powerpoint/2010/main" val="174731895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Rounded Corners 4">
            <a:extLst>
              <a:ext uri="{FF2B5EF4-FFF2-40B4-BE49-F238E27FC236}">
                <a16:creationId xmlns:a16="http://schemas.microsoft.com/office/drawing/2014/main" id="{4B3EAD6E-CE20-8348-36F6-4D6E2F057221}"/>
              </a:ext>
            </a:extLst>
          </p:cNvPr>
          <p:cNvSpPr/>
          <p:nvPr/>
        </p:nvSpPr>
        <p:spPr>
          <a:xfrm>
            <a:off x="2584450" y="2393950"/>
            <a:ext cx="1841500" cy="1149350"/>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E5B445"/>
                </a:solidFill>
              </a:rPr>
              <a:t>Background</a:t>
            </a:r>
            <a:endParaRPr lang="en-IL" dirty="0">
              <a:solidFill>
                <a:srgbClr val="E5B445"/>
              </a:solidFill>
            </a:endParaRPr>
          </a:p>
        </p:txBody>
      </p:sp>
      <p:sp>
        <p:nvSpPr>
          <p:cNvPr id="6" name="Arrow: Right 5">
            <a:extLst>
              <a:ext uri="{FF2B5EF4-FFF2-40B4-BE49-F238E27FC236}">
                <a16:creationId xmlns:a16="http://schemas.microsoft.com/office/drawing/2014/main" id="{6C035288-97B7-C743-B1CF-8A75165F39D8}"/>
              </a:ext>
            </a:extLst>
          </p:cNvPr>
          <p:cNvSpPr/>
          <p:nvPr/>
        </p:nvSpPr>
        <p:spPr>
          <a:xfrm>
            <a:off x="4591050" y="2800350"/>
            <a:ext cx="419100" cy="336550"/>
          </a:xfrm>
          <a:prstGeom prst="rightArrow">
            <a:avLst/>
          </a:prstGeom>
          <a:solidFill>
            <a:srgbClr val="E5B44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 name="Rectangle: Rounded Corners 6">
            <a:extLst>
              <a:ext uri="{FF2B5EF4-FFF2-40B4-BE49-F238E27FC236}">
                <a16:creationId xmlns:a16="http://schemas.microsoft.com/office/drawing/2014/main" id="{489BD9E3-B274-41D4-AAFC-98DE8462984B}"/>
              </a:ext>
            </a:extLst>
          </p:cNvPr>
          <p:cNvSpPr/>
          <p:nvPr/>
        </p:nvSpPr>
        <p:spPr>
          <a:xfrm>
            <a:off x="5175250" y="2393950"/>
            <a:ext cx="1841500" cy="1149350"/>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E5B445"/>
                </a:solidFill>
              </a:rPr>
              <a:t>RISC-V ISA</a:t>
            </a:r>
            <a:endParaRPr lang="en-IL" dirty="0">
              <a:solidFill>
                <a:srgbClr val="E5B445"/>
              </a:solidFill>
            </a:endParaRPr>
          </a:p>
        </p:txBody>
      </p:sp>
      <p:sp>
        <p:nvSpPr>
          <p:cNvPr id="8" name="Arrow: Right 7">
            <a:extLst>
              <a:ext uri="{FF2B5EF4-FFF2-40B4-BE49-F238E27FC236}">
                <a16:creationId xmlns:a16="http://schemas.microsoft.com/office/drawing/2014/main" id="{DBA35648-C398-74BD-910D-0C8384F7BDFB}"/>
              </a:ext>
            </a:extLst>
          </p:cNvPr>
          <p:cNvSpPr/>
          <p:nvPr/>
        </p:nvSpPr>
        <p:spPr>
          <a:xfrm>
            <a:off x="7181850" y="2800350"/>
            <a:ext cx="419100" cy="336550"/>
          </a:xfrm>
          <a:prstGeom prst="rightArrow">
            <a:avLst/>
          </a:prstGeom>
          <a:solidFill>
            <a:srgbClr val="E5B44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Rounded Corners 8">
            <a:extLst>
              <a:ext uri="{FF2B5EF4-FFF2-40B4-BE49-F238E27FC236}">
                <a16:creationId xmlns:a16="http://schemas.microsoft.com/office/drawing/2014/main" id="{CDABF732-159E-5490-FC17-EDF86E6F3407}"/>
              </a:ext>
            </a:extLst>
          </p:cNvPr>
          <p:cNvSpPr/>
          <p:nvPr/>
        </p:nvSpPr>
        <p:spPr>
          <a:xfrm>
            <a:off x="7766050" y="2393950"/>
            <a:ext cx="1841500" cy="1149350"/>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E5B445"/>
                </a:solidFill>
              </a:rPr>
              <a:t>Formats</a:t>
            </a:r>
            <a:endParaRPr lang="en-IL" dirty="0">
              <a:solidFill>
                <a:srgbClr val="E5B445"/>
              </a:solidFill>
            </a:endParaRPr>
          </a:p>
        </p:txBody>
      </p:sp>
      <p:sp>
        <p:nvSpPr>
          <p:cNvPr id="11" name="Rectangle: Rounded Corners 10">
            <a:extLst>
              <a:ext uri="{FF2B5EF4-FFF2-40B4-BE49-F238E27FC236}">
                <a16:creationId xmlns:a16="http://schemas.microsoft.com/office/drawing/2014/main" id="{F563DB89-DCB2-A2FD-4F87-20E1BA4E8156}"/>
              </a:ext>
            </a:extLst>
          </p:cNvPr>
          <p:cNvSpPr/>
          <p:nvPr/>
        </p:nvSpPr>
        <p:spPr>
          <a:xfrm>
            <a:off x="2584450" y="4139406"/>
            <a:ext cx="1841500" cy="1149350"/>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E5B445"/>
                </a:solidFill>
              </a:rPr>
              <a:t>ABI</a:t>
            </a:r>
            <a:endParaRPr lang="en-IL" dirty="0">
              <a:solidFill>
                <a:srgbClr val="E5B445"/>
              </a:solidFill>
            </a:endParaRPr>
          </a:p>
        </p:txBody>
      </p:sp>
      <p:sp>
        <p:nvSpPr>
          <p:cNvPr id="12" name="Arrow: Right 11">
            <a:extLst>
              <a:ext uri="{FF2B5EF4-FFF2-40B4-BE49-F238E27FC236}">
                <a16:creationId xmlns:a16="http://schemas.microsoft.com/office/drawing/2014/main" id="{D6655752-E26E-BC83-109D-F7D69FF4EDFE}"/>
              </a:ext>
            </a:extLst>
          </p:cNvPr>
          <p:cNvSpPr/>
          <p:nvPr/>
        </p:nvSpPr>
        <p:spPr>
          <a:xfrm>
            <a:off x="4591050" y="4545806"/>
            <a:ext cx="419100" cy="336550"/>
          </a:xfrm>
          <a:prstGeom prst="rightArrow">
            <a:avLst/>
          </a:prstGeom>
          <a:solidFill>
            <a:srgbClr val="E5B44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Rectangle: Rounded Corners 12">
            <a:extLst>
              <a:ext uri="{FF2B5EF4-FFF2-40B4-BE49-F238E27FC236}">
                <a16:creationId xmlns:a16="http://schemas.microsoft.com/office/drawing/2014/main" id="{34A4656B-BBA1-1A9A-AA77-8E794F63B6A9}"/>
              </a:ext>
            </a:extLst>
          </p:cNvPr>
          <p:cNvSpPr/>
          <p:nvPr/>
        </p:nvSpPr>
        <p:spPr>
          <a:xfrm>
            <a:off x="5175250" y="4139406"/>
            <a:ext cx="1841500" cy="1149350"/>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E5B445"/>
                </a:solidFill>
              </a:rPr>
              <a:t>Extensions</a:t>
            </a:r>
            <a:endParaRPr lang="en-IL" dirty="0">
              <a:solidFill>
                <a:srgbClr val="E5B445"/>
              </a:solidFill>
            </a:endParaRPr>
          </a:p>
        </p:txBody>
      </p:sp>
      <p:sp>
        <p:nvSpPr>
          <p:cNvPr id="14" name="Arrow: Right 13">
            <a:extLst>
              <a:ext uri="{FF2B5EF4-FFF2-40B4-BE49-F238E27FC236}">
                <a16:creationId xmlns:a16="http://schemas.microsoft.com/office/drawing/2014/main" id="{669D394E-260A-8496-2FEE-C80E7998EBB8}"/>
              </a:ext>
            </a:extLst>
          </p:cNvPr>
          <p:cNvSpPr/>
          <p:nvPr/>
        </p:nvSpPr>
        <p:spPr>
          <a:xfrm>
            <a:off x="7181850" y="4545806"/>
            <a:ext cx="419100" cy="336550"/>
          </a:xfrm>
          <a:prstGeom prst="rightArrow">
            <a:avLst/>
          </a:prstGeom>
          <a:solidFill>
            <a:srgbClr val="E5B44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Rounded Corners 14">
            <a:extLst>
              <a:ext uri="{FF2B5EF4-FFF2-40B4-BE49-F238E27FC236}">
                <a16:creationId xmlns:a16="http://schemas.microsoft.com/office/drawing/2014/main" id="{230BA1A6-CFAB-445F-7CAB-4E72484548C1}"/>
              </a:ext>
            </a:extLst>
          </p:cNvPr>
          <p:cNvSpPr/>
          <p:nvPr/>
        </p:nvSpPr>
        <p:spPr>
          <a:xfrm>
            <a:off x="7766050" y="4139406"/>
            <a:ext cx="1841500" cy="1149350"/>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E5B445"/>
                </a:solidFill>
              </a:rPr>
              <a:t>Architecture approaches</a:t>
            </a:r>
            <a:endParaRPr lang="en-IL" dirty="0">
              <a:solidFill>
                <a:srgbClr val="E5B445"/>
              </a:solidFill>
            </a:endParaRPr>
          </a:p>
        </p:txBody>
      </p:sp>
    </p:spTree>
    <p:extLst>
      <p:ext uri="{BB962C8B-B14F-4D97-AF65-F5344CB8AC3E}">
        <p14:creationId xmlns:p14="http://schemas.microsoft.com/office/powerpoint/2010/main" val="3888672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1A27-F35E-C76E-07B9-B51F8DDB5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04512A-84DB-FE24-DA11-F4A0E36741E5}"/>
              </a:ext>
            </a:extLst>
          </p:cNvPr>
          <p:cNvSpPr>
            <a:spLocks noGrp="1"/>
          </p:cNvSpPr>
          <p:nvPr>
            <p:ph type="title"/>
          </p:nvPr>
        </p:nvSpPr>
        <p:spPr/>
        <p:txBody>
          <a:bodyPr/>
          <a:lstStyle/>
          <a:p>
            <a:pPr algn="ctr"/>
            <a:r>
              <a:rPr lang="en-US" b="1" dirty="0">
                <a:solidFill>
                  <a:srgbClr val="2E346E"/>
                </a:solidFill>
              </a:rPr>
              <a:t>Theoretical Back</a:t>
            </a:r>
            <a:r>
              <a:rPr lang="en-US" b="1" dirty="0">
                <a:solidFill>
                  <a:srgbClr val="E5B445"/>
                </a:solidFill>
              </a:rPr>
              <a:t>ground</a:t>
            </a:r>
            <a:endParaRPr lang="en-IL" b="1" dirty="0">
              <a:solidFill>
                <a:srgbClr val="E5B445"/>
              </a:solidFill>
            </a:endParaRPr>
          </a:p>
        </p:txBody>
      </p:sp>
      <p:graphicFrame>
        <p:nvGraphicFramePr>
          <p:cNvPr id="4" name="Content Placeholder 3">
            <a:extLst>
              <a:ext uri="{FF2B5EF4-FFF2-40B4-BE49-F238E27FC236}">
                <a16:creationId xmlns:a16="http://schemas.microsoft.com/office/drawing/2014/main" id="{7C7AE102-B455-6541-707C-464686BF17B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a:extLst>
              <a:ext uri="{FF2B5EF4-FFF2-40B4-BE49-F238E27FC236}">
                <a16:creationId xmlns:a16="http://schemas.microsoft.com/office/drawing/2014/main" id="{73AA4C3B-26AC-2AF2-1EC4-F4365F75F66C}"/>
              </a:ext>
            </a:extLst>
          </p:cNvPr>
          <p:cNvPicPr>
            <a:picLocks noChangeAspect="1"/>
          </p:cNvPicPr>
          <p:nvPr/>
        </p:nvPicPr>
        <p:blipFill>
          <a:blip r:embed="rId8"/>
          <a:stretch>
            <a:fillRect/>
          </a:stretch>
        </p:blipFill>
        <p:spPr>
          <a:xfrm>
            <a:off x="5867400" y="1690688"/>
            <a:ext cx="5314950" cy="3201462"/>
          </a:xfrm>
          <a:prstGeom prst="rect">
            <a:avLst/>
          </a:prstGeom>
        </p:spPr>
      </p:pic>
      <p:pic>
        <p:nvPicPr>
          <p:cNvPr id="16" name="Picture 15">
            <a:extLst>
              <a:ext uri="{FF2B5EF4-FFF2-40B4-BE49-F238E27FC236}">
                <a16:creationId xmlns:a16="http://schemas.microsoft.com/office/drawing/2014/main" id="{6726DA4B-83FB-831F-38E6-84F4A740573A}"/>
              </a:ext>
            </a:extLst>
          </p:cNvPr>
          <p:cNvPicPr>
            <a:picLocks noChangeAspect="1"/>
          </p:cNvPicPr>
          <p:nvPr/>
        </p:nvPicPr>
        <p:blipFill>
          <a:blip r:embed="rId9"/>
          <a:stretch>
            <a:fillRect/>
          </a:stretch>
        </p:blipFill>
        <p:spPr>
          <a:xfrm>
            <a:off x="1009650" y="1690688"/>
            <a:ext cx="4091437" cy="3201462"/>
          </a:xfrm>
          <a:prstGeom prst="rect">
            <a:avLst/>
          </a:prstGeom>
        </p:spPr>
      </p:pic>
      <p:pic>
        <p:nvPicPr>
          <p:cNvPr id="17" name="Picture 16">
            <a:extLst>
              <a:ext uri="{FF2B5EF4-FFF2-40B4-BE49-F238E27FC236}">
                <a16:creationId xmlns:a16="http://schemas.microsoft.com/office/drawing/2014/main" id="{F78D8D79-FDA6-02E9-1C23-5B44C18C0B3A}"/>
              </a:ext>
            </a:extLst>
          </p:cNvPr>
          <p:cNvPicPr>
            <a:picLocks noChangeAspect="1"/>
          </p:cNvPicPr>
          <p:nvPr/>
        </p:nvPicPr>
        <p:blipFill>
          <a:blip r:embed="rId10"/>
          <a:stretch>
            <a:fillRect/>
          </a:stretch>
        </p:blipFill>
        <p:spPr>
          <a:xfrm>
            <a:off x="5272537" y="4845685"/>
            <a:ext cx="2119086" cy="1720215"/>
          </a:xfrm>
          <a:prstGeom prst="rect">
            <a:avLst/>
          </a:prstGeom>
        </p:spPr>
      </p:pic>
    </p:spTree>
    <p:extLst>
      <p:ext uri="{BB962C8B-B14F-4D97-AF65-F5344CB8AC3E}">
        <p14:creationId xmlns:p14="http://schemas.microsoft.com/office/powerpoint/2010/main" val="437897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4FC84-183A-571B-17A2-5DBDAC946F61}"/>
              </a:ext>
            </a:extLst>
          </p:cNvPr>
          <p:cNvSpPr>
            <a:spLocks noGrp="1"/>
          </p:cNvSpPr>
          <p:nvPr>
            <p:ph type="title"/>
          </p:nvPr>
        </p:nvSpPr>
        <p:spPr/>
        <p:txBody>
          <a:bodyPr/>
          <a:lstStyle/>
          <a:p>
            <a:pPr algn="ctr"/>
            <a:r>
              <a:rPr lang="en-US" b="1" dirty="0">
                <a:solidFill>
                  <a:srgbClr val="2E346E"/>
                </a:solidFill>
              </a:rPr>
              <a:t>Work Stages and Ch</a:t>
            </a:r>
            <a:r>
              <a:rPr lang="en-US" b="1" dirty="0">
                <a:solidFill>
                  <a:srgbClr val="E5B445"/>
                </a:solidFill>
              </a:rPr>
              <a:t>allenges</a:t>
            </a:r>
            <a:endParaRPr lang="en-IL" dirty="0">
              <a:solidFill>
                <a:srgbClr val="E5B445"/>
              </a:solidFill>
            </a:endParaRPr>
          </a:p>
        </p:txBody>
      </p:sp>
      <p:sp>
        <p:nvSpPr>
          <p:cNvPr id="3" name="Content Placeholder 2">
            <a:extLst>
              <a:ext uri="{FF2B5EF4-FFF2-40B4-BE49-F238E27FC236}">
                <a16:creationId xmlns:a16="http://schemas.microsoft.com/office/drawing/2014/main" id="{B6C055A3-F9D2-89DE-B5DA-93B7B66F2AB6}"/>
              </a:ext>
            </a:extLst>
          </p:cNvPr>
          <p:cNvSpPr>
            <a:spLocks noGrp="1"/>
          </p:cNvSpPr>
          <p:nvPr>
            <p:ph idx="1"/>
          </p:nvPr>
        </p:nvSpPr>
        <p:spPr>
          <a:xfrm>
            <a:off x="838200" y="1825625"/>
            <a:ext cx="10515600" cy="4351338"/>
          </a:xfrm>
        </p:spPr>
        <p:txBody>
          <a:bodyPr>
            <a:normAutofit/>
          </a:bodyPr>
          <a:lstStyle/>
          <a:p>
            <a:pPr marL="0" indent="0">
              <a:buNone/>
            </a:pPr>
            <a:r>
              <a:rPr lang="en-US" sz="2000" b="1" dirty="0"/>
              <a:t>Design – </a:t>
            </a:r>
          </a:p>
          <a:p>
            <a:pPr marL="0" indent="0">
              <a:buNone/>
            </a:pPr>
            <a:r>
              <a:rPr lang="en-US" sz="2000" dirty="0"/>
              <a:t>Challenge: designing fast and reliable processor yet according to the RISC-V guidelines.</a:t>
            </a:r>
          </a:p>
          <a:p>
            <a:pPr marL="0" indent="0">
              <a:buNone/>
            </a:pPr>
            <a:r>
              <a:rPr lang="en-US" sz="2000" b="1" dirty="0"/>
              <a:t>Simulation –</a:t>
            </a:r>
          </a:p>
          <a:p>
            <a:pPr marL="0" indent="0">
              <a:buNone/>
            </a:pPr>
            <a:r>
              <a:rPr lang="en-US" sz="2000" dirty="0"/>
              <a:t>Challenge: finding an efficient and simple way to make debugging process easier. </a:t>
            </a:r>
          </a:p>
          <a:p>
            <a:pPr marL="0" indent="0">
              <a:buNone/>
            </a:pPr>
            <a:r>
              <a:rPr lang="en-US" sz="2000" b="1" dirty="0"/>
              <a:t>Synthesis –</a:t>
            </a:r>
          </a:p>
          <a:p>
            <a:pPr marL="0" indent="0">
              <a:buNone/>
            </a:pPr>
            <a:r>
              <a:rPr lang="en-US" sz="2000" dirty="0"/>
              <a:t>Challenge: understanding to what the design is translated to.</a:t>
            </a:r>
          </a:p>
          <a:p>
            <a:pPr marL="0" indent="0">
              <a:buNone/>
            </a:pPr>
            <a:r>
              <a:rPr lang="en-US" sz="2000" b="1" dirty="0"/>
              <a:t>Implementation –</a:t>
            </a:r>
          </a:p>
          <a:p>
            <a:pPr marL="0" indent="0">
              <a:buNone/>
            </a:pPr>
            <a:r>
              <a:rPr lang="en-US" sz="2000" dirty="0"/>
              <a:t>Challenge: learning about the structure of the FPGA and how the design is mapped.</a:t>
            </a:r>
          </a:p>
          <a:p>
            <a:pPr marL="0" indent="0">
              <a:buNone/>
            </a:pPr>
            <a:r>
              <a:rPr lang="en-US" sz="2000" b="1" dirty="0"/>
              <a:t>Bitstream Generation –</a:t>
            </a:r>
          </a:p>
          <a:p>
            <a:pPr marL="0" indent="0">
              <a:buNone/>
            </a:pPr>
            <a:r>
              <a:rPr lang="en-US" sz="2000" dirty="0"/>
              <a:t>Challenge: becoming familiar with the design suit. </a:t>
            </a:r>
            <a:endParaRPr lang="en-IL" sz="2000" dirty="0"/>
          </a:p>
        </p:txBody>
      </p:sp>
      <p:graphicFrame>
        <p:nvGraphicFramePr>
          <p:cNvPr id="4" name="Diagram 3">
            <a:extLst>
              <a:ext uri="{FF2B5EF4-FFF2-40B4-BE49-F238E27FC236}">
                <a16:creationId xmlns:a16="http://schemas.microsoft.com/office/drawing/2014/main" id="{8EEB9450-FCF1-4AD8-7D40-CA49A27FA1B6}"/>
              </a:ext>
            </a:extLst>
          </p:cNvPr>
          <p:cNvGraphicFramePr/>
          <p:nvPr>
            <p:extLst>
              <p:ext uri="{D42A27DB-BD31-4B8C-83A1-F6EECF244321}">
                <p14:modId xmlns:p14="http://schemas.microsoft.com/office/powerpoint/2010/main" val="2244903233"/>
              </p:ext>
            </p:extLst>
          </p:nvPr>
        </p:nvGraphicFramePr>
        <p:xfrm>
          <a:off x="3473450" y="1074208"/>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5854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4751F-AEEB-BB9A-1990-CE4CA715EDC4}"/>
              </a:ext>
            </a:extLst>
          </p:cNvPr>
          <p:cNvSpPr>
            <a:spLocks noGrp="1"/>
          </p:cNvSpPr>
          <p:nvPr>
            <p:ph type="title"/>
          </p:nvPr>
        </p:nvSpPr>
        <p:spPr/>
        <p:txBody>
          <a:bodyPr/>
          <a:lstStyle/>
          <a:p>
            <a:pPr algn="ctr"/>
            <a:r>
              <a:rPr lang="en-US" b="1" dirty="0">
                <a:solidFill>
                  <a:srgbClr val="2E346E"/>
                </a:solidFill>
              </a:rPr>
              <a:t>Project Delive</a:t>
            </a:r>
            <a:r>
              <a:rPr lang="en-US" b="1" dirty="0">
                <a:solidFill>
                  <a:srgbClr val="E5B445"/>
                </a:solidFill>
              </a:rPr>
              <a:t>rables</a:t>
            </a:r>
            <a:endParaRPr lang="en-IL" b="1" dirty="0">
              <a:solidFill>
                <a:srgbClr val="E5B445"/>
              </a:solidFill>
            </a:endParaRPr>
          </a:p>
        </p:txBody>
      </p:sp>
      <p:sp>
        <p:nvSpPr>
          <p:cNvPr id="3" name="Content Placeholder 2">
            <a:extLst>
              <a:ext uri="{FF2B5EF4-FFF2-40B4-BE49-F238E27FC236}">
                <a16:creationId xmlns:a16="http://schemas.microsoft.com/office/drawing/2014/main" id="{123ED7C9-CC1E-AD44-3DBD-62C0593CF280}"/>
              </a:ext>
            </a:extLst>
          </p:cNvPr>
          <p:cNvSpPr>
            <a:spLocks noGrp="1"/>
          </p:cNvSpPr>
          <p:nvPr>
            <p:ph idx="1"/>
          </p:nvPr>
        </p:nvSpPr>
        <p:spPr/>
        <p:txBody>
          <a:bodyPr>
            <a:normAutofit/>
          </a:bodyPr>
          <a:lstStyle/>
          <a:p>
            <a:pPr marL="0" indent="0">
              <a:buNone/>
            </a:pPr>
            <a:r>
              <a:rPr lang="en-US" sz="2000" dirty="0"/>
              <a:t>Deliverables:</a:t>
            </a:r>
          </a:p>
          <a:p>
            <a:r>
              <a:rPr lang="en-US" sz="2000" dirty="0"/>
              <a:t>Fully functional RV32IM softcore Processor in System Verilog on an FPGA.</a:t>
            </a:r>
          </a:p>
          <a:p>
            <a:r>
              <a:rPr lang="en-US" sz="2000" dirty="0"/>
              <a:t>Implemented In 3 different methods: Single Cycle, Multi Cycle and Pipelined.</a:t>
            </a:r>
          </a:p>
          <a:p>
            <a:r>
              <a:rPr lang="en-US" sz="2000" dirty="0"/>
              <a:t>6 different assembly codes to machine codes files that run on the FPGA through BRAM blocks.</a:t>
            </a:r>
          </a:p>
          <a:p>
            <a:endParaRPr lang="en-IL" sz="2000" dirty="0"/>
          </a:p>
        </p:txBody>
      </p:sp>
      <p:pic>
        <p:nvPicPr>
          <p:cNvPr id="4" name="Picture 3">
            <a:extLst>
              <a:ext uri="{FF2B5EF4-FFF2-40B4-BE49-F238E27FC236}">
                <a16:creationId xmlns:a16="http://schemas.microsoft.com/office/drawing/2014/main" id="{A61357A8-0805-05B2-5BA3-7C95AA59138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266" t="19713" r="16054" b="22168"/>
          <a:stretch>
            <a:fillRect/>
          </a:stretch>
        </p:blipFill>
        <p:spPr bwMode="auto">
          <a:xfrm rot="16200000">
            <a:off x="4793537" y="3675573"/>
            <a:ext cx="2604926" cy="266772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7128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BE9B3-0FEF-0F14-1CE5-B56BD4E0B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D9817-DCB1-1054-C52C-9CC9CFA6FE41}"/>
              </a:ext>
            </a:extLst>
          </p:cNvPr>
          <p:cNvSpPr>
            <a:spLocks noGrp="1"/>
          </p:cNvSpPr>
          <p:nvPr>
            <p:ph type="title"/>
          </p:nvPr>
        </p:nvSpPr>
        <p:spPr/>
        <p:txBody>
          <a:bodyPr/>
          <a:lstStyle/>
          <a:p>
            <a:pPr algn="ctr"/>
            <a:r>
              <a:rPr lang="en-US" b="1" dirty="0">
                <a:solidFill>
                  <a:srgbClr val="2E346E"/>
                </a:solidFill>
              </a:rPr>
              <a:t>Project Delive</a:t>
            </a:r>
            <a:r>
              <a:rPr lang="en-US" b="1" dirty="0">
                <a:solidFill>
                  <a:srgbClr val="E5B445"/>
                </a:solidFill>
              </a:rPr>
              <a:t>rables</a:t>
            </a:r>
            <a:endParaRPr lang="en-IL" b="1" dirty="0">
              <a:solidFill>
                <a:srgbClr val="E5B445"/>
              </a:solidFill>
            </a:endParaRPr>
          </a:p>
        </p:txBody>
      </p:sp>
      <p:sp>
        <p:nvSpPr>
          <p:cNvPr id="3" name="Content Placeholder 2">
            <a:extLst>
              <a:ext uri="{FF2B5EF4-FFF2-40B4-BE49-F238E27FC236}">
                <a16:creationId xmlns:a16="http://schemas.microsoft.com/office/drawing/2014/main" id="{70B6F5F3-4786-C7E6-3A88-BEAAA2DC617C}"/>
              </a:ext>
            </a:extLst>
          </p:cNvPr>
          <p:cNvSpPr>
            <a:spLocks noGrp="1"/>
          </p:cNvSpPr>
          <p:nvPr>
            <p:ph idx="1"/>
          </p:nvPr>
        </p:nvSpPr>
        <p:spPr/>
        <p:txBody>
          <a:bodyPr>
            <a:normAutofit/>
          </a:bodyPr>
          <a:lstStyle/>
          <a:p>
            <a:pPr marL="0" indent="0">
              <a:buNone/>
            </a:pPr>
            <a:r>
              <a:rPr lang="en-US" sz="2000" dirty="0"/>
              <a:t>Challenges:</a:t>
            </a:r>
          </a:p>
          <a:p>
            <a:pPr marL="0" indent="0">
              <a:buNone/>
            </a:pPr>
            <a:endParaRPr lang="en-IL" sz="2000" dirty="0"/>
          </a:p>
        </p:txBody>
      </p:sp>
      <p:sp>
        <p:nvSpPr>
          <p:cNvPr id="6" name="Oval 5">
            <a:extLst>
              <a:ext uri="{FF2B5EF4-FFF2-40B4-BE49-F238E27FC236}">
                <a16:creationId xmlns:a16="http://schemas.microsoft.com/office/drawing/2014/main" id="{C85BF5F8-54E1-CDC3-E847-C35FEF42DFF7}"/>
              </a:ext>
            </a:extLst>
          </p:cNvPr>
          <p:cNvSpPr/>
          <p:nvPr/>
        </p:nvSpPr>
        <p:spPr>
          <a:xfrm>
            <a:off x="781050" y="2762250"/>
            <a:ext cx="806450" cy="806450"/>
          </a:xfrm>
          <a:prstGeom prst="ellipse">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highlight>
                <a:srgbClr val="2E346E"/>
              </a:highlight>
            </a:endParaRPr>
          </a:p>
        </p:txBody>
      </p:sp>
      <p:sp>
        <p:nvSpPr>
          <p:cNvPr id="7" name="TextBox 6">
            <a:extLst>
              <a:ext uri="{FF2B5EF4-FFF2-40B4-BE49-F238E27FC236}">
                <a16:creationId xmlns:a16="http://schemas.microsoft.com/office/drawing/2014/main" id="{B41AE7CE-B2CE-2131-7D59-08B68899EEB3}"/>
              </a:ext>
            </a:extLst>
          </p:cNvPr>
          <p:cNvSpPr txBox="1"/>
          <p:nvPr/>
        </p:nvSpPr>
        <p:spPr>
          <a:xfrm>
            <a:off x="1869533" y="2703810"/>
            <a:ext cx="4356642" cy="923330"/>
          </a:xfrm>
          <a:prstGeom prst="rect">
            <a:avLst/>
          </a:prstGeom>
          <a:noFill/>
        </p:spPr>
        <p:txBody>
          <a:bodyPr wrap="none" rtlCol="0">
            <a:spAutoFit/>
          </a:bodyPr>
          <a:lstStyle/>
          <a:p>
            <a:r>
              <a:rPr lang="en-US" b="1" dirty="0">
                <a:solidFill>
                  <a:srgbClr val="E5B445"/>
                </a:solidFill>
              </a:rPr>
              <a:t>Complex Architecture Design:</a:t>
            </a:r>
          </a:p>
          <a:p>
            <a:r>
              <a:rPr lang="en-US" dirty="0"/>
              <a:t>Designing Hazard UNIT for the Pipelined </a:t>
            </a:r>
          </a:p>
          <a:p>
            <a:r>
              <a:rPr lang="en-US" dirty="0"/>
              <a:t>Processor to solve data and control hazards</a:t>
            </a:r>
            <a:endParaRPr lang="en-IL" dirty="0"/>
          </a:p>
        </p:txBody>
      </p:sp>
      <p:sp>
        <p:nvSpPr>
          <p:cNvPr id="8" name="Oval 7">
            <a:extLst>
              <a:ext uri="{FF2B5EF4-FFF2-40B4-BE49-F238E27FC236}">
                <a16:creationId xmlns:a16="http://schemas.microsoft.com/office/drawing/2014/main" id="{D9419F8F-CA85-49C1-C365-99DFE23D5C0B}"/>
              </a:ext>
            </a:extLst>
          </p:cNvPr>
          <p:cNvSpPr/>
          <p:nvPr/>
        </p:nvSpPr>
        <p:spPr>
          <a:xfrm>
            <a:off x="781050" y="4488855"/>
            <a:ext cx="806450" cy="806450"/>
          </a:xfrm>
          <a:prstGeom prst="ellipse">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highlight>
                <a:srgbClr val="2E346E"/>
              </a:highlight>
            </a:endParaRPr>
          </a:p>
        </p:txBody>
      </p:sp>
      <p:sp>
        <p:nvSpPr>
          <p:cNvPr id="9" name="TextBox 8">
            <a:extLst>
              <a:ext uri="{FF2B5EF4-FFF2-40B4-BE49-F238E27FC236}">
                <a16:creationId xmlns:a16="http://schemas.microsoft.com/office/drawing/2014/main" id="{D6644243-E9D1-A24B-969A-63122000B829}"/>
              </a:ext>
            </a:extLst>
          </p:cNvPr>
          <p:cNvSpPr txBox="1"/>
          <p:nvPr/>
        </p:nvSpPr>
        <p:spPr>
          <a:xfrm>
            <a:off x="1869533" y="4301887"/>
            <a:ext cx="4586448" cy="1200329"/>
          </a:xfrm>
          <a:prstGeom prst="rect">
            <a:avLst/>
          </a:prstGeom>
          <a:noFill/>
        </p:spPr>
        <p:txBody>
          <a:bodyPr wrap="none" rtlCol="0">
            <a:spAutoFit/>
          </a:bodyPr>
          <a:lstStyle/>
          <a:p>
            <a:r>
              <a:rPr lang="en-US" b="1" dirty="0">
                <a:solidFill>
                  <a:srgbClr val="E5B445"/>
                </a:solidFill>
              </a:rPr>
              <a:t>7 SEG and timing:</a:t>
            </a:r>
          </a:p>
          <a:p>
            <a:r>
              <a:rPr lang="en-US" dirty="0"/>
              <a:t>Building dedicated driver for the 7-Segment</a:t>
            </a:r>
            <a:br>
              <a:rPr lang="en-US" dirty="0"/>
            </a:br>
            <a:r>
              <a:rPr lang="en-US" dirty="0"/>
              <a:t>display and frequency divider so we can clearly</a:t>
            </a:r>
          </a:p>
          <a:p>
            <a:r>
              <a:rPr lang="en-US" dirty="0"/>
              <a:t> see the results on the FPGA</a:t>
            </a:r>
            <a:endParaRPr lang="en-IL" dirty="0"/>
          </a:p>
        </p:txBody>
      </p:sp>
      <p:sp>
        <p:nvSpPr>
          <p:cNvPr id="10" name="Oval 9">
            <a:extLst>
              <a:ext uri="{FF2B5EF4-FFF2-40B4-BE49-F238E27FC236}">
                <a16:creationId xmlns:a16="http://schemas.microsoft.com/office/drawing/2014/main" id="{76225072-8ABE-8562-D5FD-C47555602039}"/>
              </a:ext>
            </a:extLst>
          </p:cNvPr>
          <p:cNvSpPr/>
          <p:nvPr/>
        </p:nvSpPr>
        <p:spPr>
          <a:xfrm>
            <a:off x="6503064" y="2762250"/>
            <a:ext cx="806450" cy="806450"/>
          </a:xfrm>
          <a:prstGeom prst="ellipse">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55FED195-2137-EAB1-B389-9F5DBEF840A5}"/>
              </a:ext>
            </a:extLst>
          </p:cNvPr>
          <p:cNvSpPr txBox="1"/>
          <p:nvPr/>
        </p:nvSpPr>
        <p:spPr>
          <a:xfrm>
            <a:off x="7586403" y="2562453"/>
            <a:ext cx="4655121" cy="1200329"/>
          </a:xfrm>
          <a:prstGeom prst="rect">
            <a:avLst/>
          </a:prstGeom>
          <a:noFill/>
        </p:spPr>
        <p:txBody>
          <a:bodyPr wrap="none" rtlCol="0">
            <a:spAutoFit/>
          </a:bodyPr>
          <a:lstStyle/>
          <a:p>
            <a:r>
              <a:rPr lang="en-US" b="1" dirty="0">
                <a:solidFill>
                  <a:srgbClr val="E5B445"/>
                </a:solidFill>
              </a:rPr>
              <a:t>M-Unit:</a:t>
            </a:r>
          </a:p>
          <a:p>
            <a:r>
              <a:rPr lang="en-US" dirty="0"/>
              <a:t>Designing M-UNIT in the RV32M processor that</a:t>
            </a:r>
          </a:p>
          <a:p>
            <a:r>
              <a:rPr lang="en-US" dirty="0"/>
              <a:t> follows RISC-V guidelines while working in time</a:t>
            </a:r>
          </a:p>
          <a:p>
            <a:r>
              <a:rPr lang="en-US" dirty="0"/>
              <a:t> with the different processors types</a:t>
            </a:r>
            <a:endParaRPr lang="en-IL" dirty="0"/>
          </a:p>
        </p:txBody>
      </p:sp>
      <p:sp>
        <p:nvSpPr>
          <p:cNvPr id="12" name="Oval 11">
            <a:extLst>
              <a:ext uri="{FF2B5EF4-FFF2-40B4-BE49-F238E27FC236}">
                <a16:creationId xmlns:a16="http://schemas.microsoft.com/office/drawing/2014/main" id="{BF9467EB-B059-7F1A-0CBB-07FCBFA19A57}"/>
              </a:ext>
            </a:extLst>
          </p:cNvPr>
          <p:cNvSpPr/>
          <p:nvPr/>
        </p:nvSpPr>
        <p:spPr>
          <a:xfrm>
            <a:off x="6503064" y="4488855"/>
            <a:ext cx="806450" cy="806450"/>
          </a:xfrm>
          <a:prstGeom prst="ellipse">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Box 12">
            <a:extLst>
              <a:ext uri="{FF2B5EF4-FFF2-40B4-BE49-F238E27FC236}">
                <a16:creationId xmlns:a16="http://schemas.microsoft.com/office/drawing/2014/main" id="{F05DDB78-4322-E19C-2C18-A2B532C6EE55}"/>
              </a:ext>
            </a:extLst>
          </p:cNvPr>
          <p:cNvSpPr txBox="1"/>
          <p:nvPr/>
        </p:nvSpPr>
        <p:spPr>
          <a:xfrm>
            <a:off x="7596691" y="4430415"/>
            <a:ext cx="4215257" cy="923330"/>
          </a:xfrm>
          <a:prstGeom prst="rect">
            <a:avLst/>
          </a:prstGeom>
          <a:noFill/>
        </p:spPr>
        <p:txBody>
          <a:bodyPr wrap="none" rtlCol="0">
            <a:spAutoFit/>
          </a:bodyPr>
          <a:lstStyle/>
          <a:p>
            <a:r>
              <a:rPr lang="en-US" b="1" dirty="0">
                <a:solidFill>
                  <a:srgbClr val="E5B445"/>
                </a:solidFill>
              </a:rPr>
              <a:t>Hash Calculation:</a:t>
            </a:r>
          </a:p>
          <a:p>
            <a:r>
              <a:rPr lang="en-US" dirty="0"/>
              <a:t>The transition from implementing HASH in </a:t>
            </a:r>
          </a:p>
          <a:p>
            <a:r>
              <a:rPr lang="en-US" dirty="0"/>
              <a:t>testbench to top level module</a:t>
            </a:r>
            <a:endParaRPr lang="en-IL" dirty="0"/>
          </a:p>
        </p:txBody>
      </p:sp>
    </p:spTree>
    <p:extLst>
      <p:ext uri="{BB962C8B-B14F-4D97-AF65-F5344CB8AC3E}">
        <p14:creationId xmlns:p14="http://schemas.microsoft.com/office/powerpoint/2010/main" val="4283410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370DE-CD90-6676-5C74-7A5985DF8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6A2E8-C7E5-4C09-9B4E-3CFC8B1CD296}"/>
              </a:ext>
            </a:extLst>
          </p:cNvPr>
          <p:cNvSpPr>
            <a:spLocks noGrp="1"/>
          </p:cNvSpPr>
          <p:nvPr>
            <p:ph type="title"/>
          </p:nvPr>
        </p:nvSpPr>
        <p:spPr/>
        <p:txBody>
          <a:bodyPr/>
          <a:lstStyle/>
          <a:p>
            <a:pPr algn="ctr"/>
            <a:r>
              <a:rPr lang="en-US" b="1" dirty="0">
                <a:solidFill>
                  <a:srgbClr val="2E346E"/>
                </a:solidFill>
              </a:rPr>
              <a:t>Results / Demons</a:t>
            </a:r>
            <a:r>
              <a:rPr lang="en-US" b="1" dirty="0">
                <a:solidFill>
                  <a:srgbClr val="E5B445"/>
                </a:solidFill>
              </a:rPr>
              <a:t>tration</a:t>
            </a:r>
            <a:endParaRPr lang="en-IL" b="1" dirty="0">
              <a:solidFill>
                <a:srgbClr val="E5B445"/>
              </a:solidFill>
            </a:endParaRPr>
          </a:p>
        </p:txBody>
      </p:sp>
      <p:sp>
        <p:nvSpPr>
          <p:cNvPr id="3" name="Content Placeholder 2">
            <a:extLst>
              <a:ext uri="{FF2B5EF4-FFF2-40B4-BE49-F238E27FC236}">
                <a16:creationId xmlns:a16="http://schemas.microsoft.com/office/drawing/2014/main" id="{0CC821EF-C804-7A97-0BAE-1EE0224E5B55}"/>
              </a:ext>
            </a:extLst>
          </p:cNvPr>
          <p:cNvSpPr>
            <a:spLocks noGrp="1"/>
          </p:cNvSpPr>
          <p:nvPr>
            <p:ph idx="1"/>
          </p:nvPr>
        </p:nvSpPr>
        <p:spPr>
          <a:xfrm>
            <a:off x="838200" y="1825625"/>
            <a:ext cx="10515600" cy="4667250"/>
          </a:xfrm>
        </p:spPr>
        <p:txBody>
          <a:bodyPr>
            <a:normAutofit fontScale="92500" lnSpcReduction="20000"/>
          </a:bodyPr>
          <a:lstStyle/>
          <a:p>
            <a:pPr marL="0" indent="0">
              <a:buNone/>
            </a:pPr>
            <a:r>
              <a:rPr lang="en-US" sz="2000" dirty="0"/>
              <a:t>We Wrote a 6 different programs that runs on the FPGA Soft-core. </a:t>
            </a:r>
          </a:p>
          <a:p>
            <a:pPr marL="0" indent="0">
              <a:buNone/>
            </a:pPr>
            <a:r>
              <a:rPr lang="en-US" sz="2000" dirty="0"/>
              <a:t>The following  screenshots are of the Branch Test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The following video show demonstration of the math calculation test from RTL through simulation all the way to the programing of the FPGA:</a:t>
            </a:r>
            <a:endParaRPr lang="en-IL" sz="2000" dirty="0"/>
          </a:p>
        </p:txBody>
      </p:sp>
      <p:pic>
        <p:nvPicPr>
          <p:cNvPr id="4" name="Picture 3">
            <a:extLst>
              <a:ext uri="{FF2B5EF4-FFF2-40B4-BE49-F238E27FC236}">
                <a16:creationId xmlns:a16="http://schemas.microsoft.com/office/drawing/2014/main" id="{0D196E11-FC76-DD0D-43D5-9F3F4CE84BF1}"/>
              </a:ext>
            </a:extLst>
          </p:cNvPr>
          <p:cNvPicPr>
            <a:picLocks noChangeAspect="1"/>
          </p:cNvPicPr>
          <p:nvPr/>
        </p:nvPicPr>
        <p:blipFill>
          <a:blip r:embed="rId3"/>
          <a:stretch>
            <a:fillRect/>
          </a:stretch>
        </p:blipFill>
        <p:spPr>
          <a:xfrm>
            <a:off x="838200" y="2773045"/>
            <a:ext cx="4148924" cy="2999105"/>
          </a:xfrm>
          <a:prstGeom prst="rect">
            <a:avLst/>
          </a:prstGeom>
        </p:spPr>
      </p:pic>
      <p:pic>
        <p:nvPicPr>
          <p:cNvPr id="5" name="Picture 4">
            <a:extLst>
              <a:ext uri="{FF2B5EF4-FFF2-40B4-BE49-F238E27FC236}">
                <a16:creationId xmlns:a16="http://schemas.microsoft.com/office/drawing/2014/main" id="{6B4ACA89-3A99-E6B6-E1F7-250A1A5F7CDF}"/>
              </a:ext>
            </a:extLst>
          </p:cNvPr>
          <p:cNvPicPr>
            <a:picLocks noChangeAspect="1"/>
          </p:cNvPicPr>
          <p:nvPr/>
        </p:nvPicPr>
        <p:blipFill>
          <a:blip r:embed="rId4"/>
          <a:stretch>
            <a:fillRect/>
          </a:stretch>
        </p:blipFill>
        <p:spPr>
          <a:xfrm>
            <a:off x="5226050" y="2687403"/>
            <a:ext cx="3291865" cy="1306195"/>
          </a:xfrm>
          <a:prstGeom prst="rect">
            <a:avLst/>
          </a:prstGeom>
        </p:spPr>
      </p:pic>
      <p:pic>
        <p:nvPicPr>
          <p:cNvPr id="14" name="Picture 13">
            <a:extLst>
              <a:ext uri="{FF2B5EF4-FFF2-40B4-BE49-F238E27FC236}">
                <a16:creationId xmlns:a16="http://schemas.microsoft.com/office/drawing/2014/main" id="{18B439AB-5A0F-3B48-D456-5A2CB6980EA8}"/>
              </a:ext>
            </a:extLst>
          </p:cNvPr>
          <p:cNvPicPr>
            <a:picLocks noChangeAspect="1"/>
          </p:cNvPicPr>
          <p:nvPr/>
        </p:nvPicPr>
        <p:blipFill>
          <a:blip r:embed="rId5"/>
          <a:stretch>
            <a:fillRect/>
          </a:stretch>
        </p:blipFill>
        <p:spPr>
          <a:xfrm>
            <a:off x="5878112" y="4586452"/>
            <a:ext cx="4584700" cy="415366"/>
          </a:xfrm>
          <a:prstGeom prst="rect">
            <a:avLst/>
          </a:prstGeom>
        </p:spPr>
      </p:pic>
      <p:pic>
        <p:nvPicPr>
          <p:cNvPr id="15" name="Picture 14">
            <a:extLst>
              <a:ext uri="{FF2B5EF4-FFF2-40B4-BE49-F238E27FC236}">
                <a16:creationId xmlns:a16="http://schemas.microsoft.com/office/drawing/2014/main" id="{A982C31A-5555-C17E-6F77-6AA1CDBDB009}"/>
              </a:ext>
            </a:extLst>
          </p:cNvPr>
          <p:cNvPicPr>
            <a:picLocks noChangeAspect="1"/>
          </p:cNvPicPr>
          <p:nvPr/>
        </p:nvPicPr>
        <p:blipFill>
          <a:blip r:embed="rId6"/>
          <a:stretch>
            <a:fillRect/>
          </a:stretch>
        </p:blipFill>
        <p:spPr>
          <a:xfrm>
            <a:off x="5878112" y="5169232"/>
            <a:ext cx="4584700" cy="414876"/>
          </a:xfrm>
          <a:prstGeom prst="rect">
            <a:avLst/>
          </a:prstGeom>
        </p:spPr>
      </p:pic>
      <p:pic>
        <p:nvPicPr>
          <p:cNvPr id="16" name="Picture 15">
            <a:extLst>
              <a:ext uri="{FF2B5EF4-FFF2-40B4-BE49-F238E27FC236}">
                <a16:creationId xmlns:a16="http://schemas.microsoft.com/office/drawing/2014/main" id="{9E24CE64-40FF-C0E6-D8F4-484FB1C8E851}"/>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3915" t="24384" r="20802" b="22323"/>
          <a:stretch>
            <a:fillRect/>
          </a:stretch>
        </p:blipFill>
        <p:spPr bwMode="auto">
          <a:xfrm rot="16200000">
            <a:off x="9611289" y="2613588"/>
            <a:ext cx="1668696" cy="181632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27045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1B0F1-3F98-6DA8-BA98-4D9169BFF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B0E8B-6A78-8B67-392D-260F43AC5F4C}"/>
              </a:ext>
            </a:extLst>
          </p:cNvPr>
          <p:cNvSpPr>
            <a:spLocks noGrp="1"/>
          </p:cNvSpPr>
          <p:nvPr>
            <p:ph type="title"/>
          </p:nvPr>
        </p:nvSpPr>
        <p:spPr/>
        <p:txBody>
          <a:bodyPr/>
          <a:lstStyle/>
          <a:p>
            <a:pPr algn="ctr"/>
            <a:r>
              <a:rPr lang="en-US" b="1" dirty="0">
                <a:solidFill>
                  <a:srgbClr val="2E346E"/>
                </a:solidFill>
              </a:rPr>
              <a:t>Results Analysis / </a:t>
            </a:r>
            <a:r>
              <a:rPr lang="en-US" b="1" dirty="0">
                <a:solidFill>
                  <a:srgbClr val="E5B445"/>
                </a:solidFill>
              </a:rPr>
              <a:t>Conclusions</a:t>
            </a:r>
            <a:endParaRPr lang="en-IL" b="1" dirty="0">
              <a:solidFill>
                <a:srgbClr val="E5B445"/>
              </a:solidFill>
            </a:endParaRPr>
          </a:p>
        </p:txBody>
      </p:sp>
      <p:sp>
        <p:nvSpPr>
          <p:cNvPr id="3" name="Content Placeholder 2">
            <a:extLst>
              <a:ext uri="{FF2B5EF4-FFF2-40B4-BE49-F238E27FC236}">
                <a16:creationId xmlns:a16="http://schemas.microsoft.com/office/drawing/2014/main" id="{1E21870A-6BDD-C050-4762-0E1E7CEDE4EC}"/>
              </a:ext>
            </a:extLst>
          </p:cNvPr>
          <p:cNvSpPr>
            <a:spLocks noGrp="1"/>
          </p:cNvSpPr>
          <p:nvPr>
            <p:ph idx="1"/>
          </p:nvPr>
        </p:nvSpPr>
        <p:spPr>
          <a:xfrm>
            <a:off x="838200" y="1825625"/>
            <a:ext cx="10515600" cy="4667250"/>
          </a:xfrm>
        </p:spPr>
        <p:txBody>
          <a:bodyPr>
            <a:normAutofit/>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
        <p:nvSpPr>
          <p:cNvPr id="7" name="Rectangle: Rounded Corners 6">
            <a:extLst>
              <a:ext uri="{FF2B5EF4-FFF2-40B4-BE49-F238E27FC236}">
                <a16:creationId xmlns:a16="http://schemas.microsoft.com/office/drawing/2014/main" id="{A45B109C-4024-E036-FEB0-7C167C4857BB}"/>
              </a:ext>
            </a:extLst>
          </p:cNvPr>
          <p:cNvSpPr/>
          <p:nvPr/>
        </p:nvSpPr>
        <p:spPr>
          <a:xfrm>
            <a:off x="967804" y="1869351"/>
            <a:ext cx="10058333" cy="998041"/>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E5B445"/>
                </a:solidFill>
              </a:rPr>
              <a:t>Adding support for peripherals</a:t>
            </a:r>
          </a:p>
        </p:txBody>
      </p:sp>
      <p:sp>
        <p:nvSpPr>
          <p:cNvPr id="8" name="Rectangle: Rounded Corners 7">
            <a:extLst>
              <a:ext uri="{FF2B5EF4-FFF2-40B4-BE49-F238E27FC236}">
                <a16:creationId xmlns:a16="http://schemas.microsoft.com/office/drawing/2014/main" id="{4FE2DDC1-C0AE-46AF-3CD1-D863A58BAC27}"/>
              </a:ext>
            </a:extLst>
          </p:cNvPr>
          <p:cNvSpPr/>
          <p:nvPr/>
        </p:nvSpPr>
        <p:spPr>
          <a:xfrm>
            <a:off x="967804" y="3202713"/>
            <a:ext cx="10058334" cy="812800"/>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E5B445"/>
                </a:solidFill>
              </a:rPr>
              <a:t>Creating a working assembler</a:t>
            </a:r>
          </a:p>
        </p:txBody>
      </p:sp>
      <p:sp>
        <p:nvSpPr>
          <p:cNvPr id="9" name="Rectangle: Rounded Corners 8">
            <a:extLst>
              <a:ext uri="{FF2B5EF4-FFF2-40B4-BE49-F238E27FC236}">
                <a16:creationId xmlns:a16="http://schemas.microsoft.com/office/drawing/2014/main" id="{984D4B1D-4455-EE39-C0C5-E0328283289E}"/>
              </a:ext>
            </a:extLst>
          </p:cNvPr>
          <p:cNvSpPr/>
          <p:nvPr/>
        </p:nvSpPr>
        <p:spPr>
          <a:xfrm>
            <a:off x="967804" y="4350834"/>
            <a:ext cx="10058333" cy="929826"/>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E5B445"/>
                </a:solidFill>
              </a:rPr>
              <a:t>Optimizing the CPU </a:t>
            </a:r>
          </a:p>
        </p:txBody>
      </p:sp>
      <p:sp>
        <p:nvSpPr>
          <p:cNvPr id="10" name="Rectangle: Rounded Corners 9">
            <a:extLst>
              <a:ext uri="{FF2B5EF4-FFF2-40B4-BE49-F238E27FC236}">
                <a16:creationId xmlns:a16="http://schemas.microsoft.com/office/drawing/2014/main" id="{172B96AF-2B01-0629-C583-FBB0C092CEDB}"/>
              </a:ext>
            </a:extLst>
          </p:cNvPr>
          <p:cNvSpPr/>
          <p:nvPr/>
        </p:nvSpPr>
        <p:spPr>
          <a:xfrm>
            <a:off x="967804" y="5615981"/>
            <a:ext cx="10058333" cy="1011831"/>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E5B445"/>
                </a:solidFill>
              </a:rPr>
              <a:t>Implementing more extensions of RISC-V</a:t>
            </a:r>
          </a:p>
        </p:txBody>
      </p:sp>
    </p:spTree>
    <p:extLst>
      <p:ext uri="{BB962C8B-B14F-4D97-AF65-F5344CB8AC3E}">
        <p14:creationId xmlns:p14="http://schemas.microsoft.com/office/powerpoint/2010/main" val="3469883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68346-D429-BDC0-531C-D71088F18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B62C2-DCE1-3DD7-25E5-2EC90399FF81}"/>
              </a:ext>
            </a:extLst>
          </p:cNvPr>
          <p:cNvSpPr>
            <a:spLocks noGrp="1"/>
          </p:cNvSpPr>
          <p:nvPr>
            <p:ph type="title"/>
          </p:nvPr>
        </p:nvSpPr>
        <p:spPr/>
        <p:txBody>
          <a:bodyPr/>
          <a:lstStyle/>
          <a:p>
            <a:pPr algn="ctr"/>
            <a:r>
              <a:rPr lang="en-US" b="1" dirty="0">
                <a:solidFill>
                  <a:srgbClr val="2E346E"/>
                </a:solidFill>
              </a:rPr>
              <a:t>Recommendation for developm</a:t>
            </a:r>
            <a:r>
              <a:rPr lang="en-US" b="1" dirty="0">
                <a:solidFill>
                  <a:srgbClr val="E5B445"/>
                </a:solidFill>
              </a:rPr>
              <a:t>ent  / Research</a:t>
            </a:r>
            <a:endParaRPr lang="en-IL" b="1" dirty="0">
              <a:solidFill>
                <a:srgbClr val="E5B445"/>
              </a:solidFill>
            </a:endParaRPr>
          </a:p>
        </p:txBody>
      </p:sp>
      <p:sp>
        <p:nvSpPr>
          <p:cNvPr id="3" name="Content Placeholder 2">
            <a:extLst>
              <a:ext uri="{FF2B5EF4-FFF2-40B4-BE49-F238E27FC236}">
                <a16:creationId xmlns:a16="http://schemas.microsoft.com/office/drawing/2014/main" id="{5AC3A77D-7AC5-CA53-EE3C-B5FBBF092D15}"/>
              </a:ext>
            </a:extLst>
          </p:cNvPr>
          <p:cNvSpPr>
            <a:spLocks noGrp="1"/>
          </p:cNvSpPr>
          <p:nvPr>
            <p:ph idx="1"/>
          </p:nvPr>
        </p:nvSpPr>
        <p:spPr>
          <a:xfrm>
            <a:off x="838200" y="1825625"/>
            <a:ext cx="10515600" cy="4667250"/>
          </a:xfrm>
        </p:spPr>
        <p:txBody>
          <a:bodyPr>
            <a:normAutofit/>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pic>
        <p:nvPicPr>
          <p:cNvPr id="6" name="Picture 5">
            <a:extLst>
              <a:ext uri="{FF2B5EF4-FFF2-40B4-BE49-F238E27FC236}">
                <a16:creationId xmlns:a16="http://schemas.microsoft.com/office/drawing/2014/main" id="{D367F1FB-2C99-D6CD-6D70-EA40D0D69E8A}"/>
              </a:ext>
            </a:extLst>
          </p:cNvPr>
          <p:cNvPicPr>
            <a:picLocks noChangeAspect="1"/>
          </p:cNvPicPr>
          <p:nvPr/>
        </p:nvPicPr>
        <p:blipFill>
          <a:blip r:embed="rId3"/>
          <a:stretch>
            <a:fillRect/>
          </a:stretch>
        </p:blipFill>
        <p:spPr>
          <a:xfrm>
            <a:off x="1405408" y="4861486"/>
            <a:ext cx="3472815" cy="1470025"/>
          </a:xfrm>
          <a:prstGeom prst="rect">
            <a:avLst/>
          </a:prstGeom>
        </p:spPr>
      </p:pic>
      <p:pic>
        <p:nvPicPr>
          <p:cNvPr id="1028" name="Picture 4" descr="How To Verify Complex RISC-V–based Designs? | The Art Of Verification">
            <a:extLst>
              <a:ext uri="{FF2B5EF4-FFF2-40B4-BE49-F238E27FC236}">
                <a16:creationId xmlns:a16="http://schemas.microsoft.com/office/drawing/2014/main" id="{51CEAA2A-A6C9-72EA-2CC1-5A38E084DA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2117" y="4557201"/>
            <a:ext cx="3441198" cy="193567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Rounded Corners 6">
            <a:extLst>
              <a:ext uri="{FF2B5EF4-FFF2-40B4-BE49-F238E27FC236}">
                <a16:creationId xmlns:a16="http://schemas.microsoft.com/office/drawing/2014/main" id="{73266774-6C3E-BB77-6842-CDB9A9EBC307}"/>
              </a:ext>
            </a:extLst>
          </p:cNvPr>
          <p:cNvSpPr/>
          <p:nvPr/>
        </p:nvSpPr>
        <p:spPr>
          <a:xfrm>
            <a:off x="640147" y="1874699"/>
            <a:ext cx="10713653" cy="1149350"/>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E5B445"/>
                </a:solidFill>
              </a:rPr>
              <a:t>Fast and Reliable RISC-V Soft-Core </a:t>
            </a:r>
          </a:p>
        </p:txBody>
      </p:sp>
      <p:sp>
        <p:nvSpPr>
          <p:cNvPr id="8" name="Rectangle: Rounded Corners 7">
            <a:extLst>
              <a:ext uri="{FF2B5EF4-FFF2-40B4-BE49-F238E27FC236}">
                <a16:creationId xmlns:a16="http://schemas.microsoft.com/office/drawing/2014/main" id="{734BF7CD-304E-F857-A7D6-69D37F3FF0C0}"/>
              </a:ext>
            </a:extLst>
          </p:cNvPr>
          <p:cNvSpPr/>
          <p:nvPr/>
        </p:nvSpPr>
        <p:spPr>
          <a:xfrm>
            <a:off x="640147" y="3202712"/>
            <a:ext cx="10713653" cy="1149350"/>
          </a:xfrm>
          <a:prstGeom prst="roundRect">
            <a:avLst/>
          </a:prstGeom>
          <a:solidFill>
            <a:srgbClr val="2E34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E5B445"/>
                </a:solidFill>
              </a:rPr>
              <a:t>Definite proof for superiority of Pipelined on Single cycle and Multi cycle.</a:t>
            </a:r>
          </a:p>
        </p:txBody>
      </p:sp>
    </p:spTree>
    <p:extLst>
      <p:ext uri="{BB962C8B-B14F-4D97-AF65-F5344CB8AC3E}">
        <p14:creationId xmlns:p14="http://schemas.microsoft.com/office/powerpoint/2010/main" val="299394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1230</TotalTime>
  <Words>1947</Words>
  <Application>Microsoft Office PowerPoint</Application>
  <PresentationFormat>מסך רחב</PresentationFormat>
  <Paragraphs>200</Paragraphs>
  <Slides>10</Slides>
  <Notes>10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10</vt:i4>
      </vt:variant>
    </vt:vector>
  </HeadingPairs>
  <TitlesOfParts>
    <vt:vector size="14" baseType="lpstr">
      <vt:lpstr>Arial</vt:lpstr>
      <vt:lpstr>Calibri</vt:lpstr>
      <vt:lpstr>Calibri Light</vt:lpstr>
      <vt:lpstr>Office Theme</vt:lpstr>
      <vt:lpstr>מצגת של PowerPoint‏</vt:lpstr>
      <vt:lpstr>Project Goals</vt:lpstr>
      <vt:lpstr>Theoretical Background</vt:lpstr>
      <vt:lpstr>Theoretical Background</vt:lpstr>
      <vt:lpstr>Work Stages and Challenges</vt:lpstr>
      <vt:lpstr>Project Deliverables</vt:lpstr>
      <vt:lpstr>Project Deliverables</vt:lpstr>
      <vt:lpstr>Results / Demonstration</vt:lpstr>
      <vt:lpstr>Results Analysis / Conclusions</vt:lpstr>
      <vt:lpstr>Recommendation for development  / Research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Yuval Salti</dc:creator>
  <cp:lastModifiedBy>Maor maorel</cp:lastModifiedBy>
  <cp:revision>29</cp:revision>
  <dcterms:created xsi:type="dcterms:W3CDTF">2025-11-09T15:48:53Z</dcterms:created>
  <dcterms:modified xsi:type="dcterms:W3CDTF">2025-11-10T16:33:24Z</dcterms:modified>
</cp:coreProperties>
</file>